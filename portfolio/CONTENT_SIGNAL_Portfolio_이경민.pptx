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2" r:id="rId5"/>
    <p:sldId id="260" r:id="rId6"/>
    <p:sldId id="281" r:id="rId7"/>
    <p:sldId id="262" r:id="rId8"/>
    <p:sldId id="283" r:id="rId9"/>
    <p:sldId id="263" r:id="rId10"/>
    <p:sldId id="264" r:id="rId11"/>
    <p:sldId id="265" r:id="rId12"/>
    <p:sldId id="269" r:id="rId13"/>
    <p:sldId id="270" r:id="rId14"/>
    <p:sldId id="271" r:id="rId15"/>
    <p:sldId id="272" r:id="rId16"/>
    <p:sldId id="284" r:id="rId17"/>
    <p:sldId id="286" r:id="rId18"/>
    <p:sldId id="285" r:id="rId19"/>
    <p:sldId id="287" r:id="rId20"/>
    <p:sldId id="288" r:id="rId21"/>
    <p:sldId id="289" r:id="rId22"/>
    <p:sldId id="275" r:id="rId23"/>
    <p:sldId id="278" r:id="rId24"/>
    <p:sldId id="29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020"/>
    <a:srgbClr val="A9A0FF"/>
    <a:srgbClr val="272841"/>
    <a:srgbClr val="606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95" autoAdjust="0"/>
    <p:restoredTop sz="92506" autoAdjust="0"/>
  </p:normalViewPr>
  <p:slideViewPr>
    <p:cSldViewPr snapToGrid="0" snapToObjects="1">
      <p:cViewPr varScale="1">
        <p:scale>
          <a:sx n="91" d="100"/>
          <a:sy n="91" d="100"/>
        </p:scale>
        <p:origin x="120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6714" y="847343"/>
            <a:ext cx="640080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dirty="0">
                <a:solidFill>
                  <a:srgbClr val="FFFFFF"/>
                </a:solidFill>
                <a:latin typeface="Aptos"/>
              </a:rPr>
              <a:t>CONTENT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5413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 err="1">
                <a:solidFill>
                  <a:srgbClr val="FFFFFF"/>
                </a:solidFill>
                <a:latin typeface="Aptos"/>
              </a:rPr>
              <a:t>데이터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속에서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다음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콘텐츠의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신호를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찾다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97996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CDD0DD"/>
                </a:solidFill>
                <a:latin typeface="Aptos"/>
              </a:rPr>
              <a:t>시청률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·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타깃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·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온라인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반응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데이터를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분석하고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
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분석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결과를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콘텐츠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기획과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광고·협찬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검토까지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연결한</a:t>
            </a:r>
            <a:r>
              <a:rPr sz="1100" b="0" dirty="0">
                <a:solidFill>
                  <a:srgbClr val="CDD0D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CDD0DD"/>
                </a:solidFill>
                <a:latin typeface="Aptos"/>
              </a:rPr>
              <a:t>서비스</a:t>
            </a:r>
            <a:endParaRPr sz="1100" b="0" dirty="0">
              <a:solidFill>
                <a:srgbClr val="CDD0D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82347" y="2273067"/>
            <a:ext cx="728351" cy="310896"/>
          </a:xfrm>
          <a:prstGeom prst="roundRect">
            <a:avLst/>
          </a:prstGeom>
          <a:solidFill>
            <a:srgbClr val="262846"/>
          </a:solidFill>
          <a:ln>
            <a:solidFill>
              <a:srgbClr val="26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2347" y="2346219"/>
            <a:ext cx="728351" cy="200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069EE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5916" y="2273067"/>
            <a:ext cx="1348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8C90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4516" y="2273067"/>
            <a:ext cx="728351" cy="310896"/>
          </a:xfrm>
          <a:prstGeom prst="roundRect">
            <a:avLst/>
          </a:prstGeom>
          <a:solidFill>
            <a:srgbClr val="262846"/>
          </a:solidFill>
          <a:ln>
            <a:solidFill>
              <a:srgbClr val="26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44516" y="2346219"/>
            <a:ext cx="728351" cy="200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5C52FF"/>
                </a:solidFill>
                <a:latin typeface="Aptos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587" y="2273067"/>
            <a:ext cx="1348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8C90A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5187" y="2273067"/>
            <a:ext cx="728351" cy="310896"/>
          </a:xfrm>
          <a:prstGeom prst="roundRect">
            <a:avLst/>
          </a:prstGeom>
          <a:solidFill>
            <a:srgbClr val="262846"/>
          </a:solidFill>
          <a:ln>
            <a:solidFill>
              <a:srgbClr val="26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5187" y="2346219"/>
            <a:ext cx="728351" cy="200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EF4282"/>
                </a:solidFill>
                <a:latin typeface="Aptos"/>
              </a:rPr>
              <a:t>CREATIVE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7258" y="2273067"/>
            <a:ext cx="1348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8C90A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5858" y="2273067"/>
            <a:ext cx="728351" cy="310896"/>
          </a:xfrm>
          <a:prstGeom prst="roundRect">
            <a:avLst/>
          </a:prstGeom>
          <a:solidFill>
            <a:srgbClr val="262846"/>
          </a:solidFill>
          <a:ln>
            <a:solidFill>
              <a:srgbClr val="26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5858" y="2346219"/>
            <a:ext cx="728351" cy="200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20A56F"/>
                </a:solidFill>
                <a:latin typeface="Aptos"/>
              </a:rP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01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5ADD8CF-8081-4456-82CB-684346FC2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10"/>
          <a:stretch/>
        </p:blipFill>
        <p:spPr>
          <a:xfrm>
            <a:off x="7096821" y="851650"/>
            <a:ext cx="4212832" cy="5137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B26"/>
                </a:solidFill>
                <a:latin typeface="Aptos"/>
              </a:rPr>
              <a:t>데이터로 콘텐츠의 다양한 신호를 발견하다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0" y="1600200"/>
            <a:ext cx="6217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91B26"/>
                </a:solidFill>
                <a:latin typeface="Aptos"/>
              </a:rPr>
              <a:t>RACOI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데이터를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분석해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TV · TARGET ·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DIGITAL의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차이를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발견하고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,
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분석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결과를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콘텐츠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기획과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광고·협찬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검토까지</a:t>
            </a:r>
            <a:r>
              <a:rPr sz="14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1B26"/>
                </a:solidFill>
                <a:latin typeface="Aptos"/>
              </a:rPr>
              <a:t>연결</a:t>
            </a:r>
            <a:endParaRPr sz="14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3110119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3291840"/>
            <a:ext cx="594360" cy="274320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32841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3069E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1B26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0667C"/>
                </a:solidFill>
                <a:latin typeface="Aptos"/>
              </a:rPr>
              <a:t>원본 데이터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110119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6160" y="3291840"/>
            <a:ext cx="594360" cy="2743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332841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52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9476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1B26"/>
                </a:solidFill>
                <a:latin typeface="Aptos"/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6052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0667C"/>
                </a:solidFill>
                <a:latin typeface="Aptos"/>
              </a:rPr>
              <a:t>TV·타깃·디지털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10119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46520" y="3291840"/>
            <a:ext cx="594360" cy="274320"/>
          </a:xfrm>
          <a:prstGeom prst="roundRect">
            <a:avLst/>
          </a:prstGeom>
          <a:solidFill>
            <a:srgbClr val="FFEBF3"/>
          </a:solidFill>
          <a:ln>
            <a:solidFill>
              <a:srgbClr val="FF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32841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EF428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1B26"/>
                </a:solidFill>
                <a:latin typeface="Aptos"/>
              </a:rPr>
              <a:t>CREATIVE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0667C"/>
                </a:solidFill>
                <a:latin typeface="Aptos"/>
              </a:rPr>
              <a:t>기획 인사이트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110119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326880" y="3291840"/>
            <a:ext cx="594360" cy="274320"/>
          </a:xfrm>
          <a:prstGeom prst="roundRect">
            <a:avLst/>
          </a:prstGeom>
          <a:solidFill>
            <a:srgbClr val="E8F8F1"/>
          </a:solidFill>
          <a:ln>
            <a:solidFill>
              <a:srgbClr val="E8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332841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0A56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9476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1B26"/>
                </a:solidFill>
                <a:latin typeface="Aptos"/>
              </a:rP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16052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0667C"/>
                </a:solidFill>
                <a:latin typeface="Aptos"/>
              </a:rPr>
              <a:t>검토 후보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486400"/>
            <a:ext cx="73152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dirty="0" err="1">
                <a:solidFill>
                  <a:srgbClr val="60667C"/>
                </a:solidFill>
                <a:latin typeface="Aptos"/>
              </a:rPr>
              <a:t>핵심은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데이터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분석이며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,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Creative와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Business는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분석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결과를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실제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업무에서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활용하기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위한</a:t>
            </a:r>
            <a:r>
              <a:rPr sz="9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950" b="1" dirty="0" err="1">
                <a:solidFill>
                  <a:srgbClr val="60667C"/>
                </a:solidFill>
                <a:latin typeface="Aptos"/>
              </a:rPr>
              <a:t>확장</a:t>
            </a:r>
            <a:r>
              <a:rPr lang="ko-KR" altLang="en-US" sz="950" b="1" dirty="0">
                <a:solidFill>
                  <a:srgbClr val="60667C"/>
                </a:solidFill>
                <a:latin typeface="Aptos"/>
              </a:rPr>
              <a:t>이다</a:t>
            </a:r>
            <a:r>
              <a:rPr lang="en-US" altLang="ko-KR" sz="950" b="1" dirty="0">
                <a:solidFill>
                  <a:srgbClr val="60667C"/>
                </a:solidFill>
                <a:latin typeface="Aptos"/>
              </a:rPr>
              <a:t>.</a:t>
            </a:r>
            <a:endParaRPr sz="9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B26"/>
                </a:solidFill>
                <a:latin typeface="Aptos"/>
              </a:rPr>
              <a:t>프로젝트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1155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02920" cy="274320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865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3069E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B26"/>
                </a:solidFill>
                <a:latin typeface="Aptos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667C"/>
                </a:solidFill>
                <a:latin typeface="Aptos"/>
              </a:rPr>
              <a:t>배경 · 문제 정의 · 사용자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11155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502920" cy="2743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73405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52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9748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B26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9748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667C"/>
                </a:solidFill>
                <a:latin typeface="Aptos"/>
              </a:rPr>
              <a:t>데이터 출처 · 원본 · 전처리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383280"/>
            <a:ext cx="11155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6928" y="3566160"/>
            <a:ext cx="502920" cy="274320"/>
          </a:xfrm>
          <a:prstGeom prst="roundRect">
            <a:avLst/>
          </a:prstGeom>
          <a:solidFill>
            <a:srgbClr val="FFEBF3"/>
          </a:solidFill>
          <a:ln>
            <a:solidFill>
              <a:srgbClr val="FF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60273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EF428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6616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B26"/>
                </a:solidFill>
                <a:latin typeface="Aptos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5661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667C"/>
                </a:solidFill>
                <a:latin typeface="Aptos"/>
              </a:rPr>
              <a:t>EDA · 분석 결과 · 핵심 발견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51959"/>
            <a:ext cx="11155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6928" y="4434840"/>
            <a:ext cx="502920" cy="274320"/>
          </a:xfrm>
          <a:prstGeom prst="roundRect">
            <a:avLst/>
          </a:prstGeom>
          <a:solidFill>
            <a:srgbClr val="FFF3E3"/>
          </a:solidFill>
          <a:ln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47141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EB8E2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348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B26"/>
                </a:solidFill>
                <a:latin typeface="Aptos"/>
              </a:rPr>
              <a:t>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43484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667C"/>
                </a:solidFill>
                <a:latin typeface="Aptos"/>
              </a:rPr>
              <a:t>CONTENT SIGNAL · Creative · Business ·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120640"/>
            <a:ext cx="11155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6928" y="5303520"/>
            <a:ext cx="502920" cy="274320"/>
          </a:xfrm>
          <a:prstGeom prst="roundRect">
            <a:avLst/>
          </a:prstGeom>
          <a:solidFill>
            <a:srgbClr val="E8F8F1"/>
          </a:solidFill>
          <a:ln>
            <a:solidFill>
              <a:srgbClr val="E8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534009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0A56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03520"/>
            <a:ext cx="14630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191B26"/>
                </a:solidFill>
                <a:latin typeface="Aptos"/>
              </a:rPr>
              <a:t>BUILD &amp;</a:t>
            </a:r>
            <a:r>
              <a:rPr lang="en-US" sz="900" b="1" dirty="0">
                <a:solidFill>
                  <a:srgbClr val="191B26"/>
                </a:solidFill>
                <a:latin typeface="Aptos"/>
              </a:rPr>
              <a:t>NEXT</a:t>
            </a:r>
            <a:endParaRPr sz="9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06240" y="5303520"/>
            <a:ext cx="5943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667C"/>
                </a:solidFill>
                <a:latin typeface="Aptos"/>
              </a:rPr>
              <a:t>구현</a:t>
            </a:r>
            <a:r>
              <a:rPr sz="9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60667C"/>
                </a:solidFill>
                <a:latin typeface="Aptos"/>
              </a:rPr>
              <a:t>코드</a:t>
            </a:r>
            <a:r>
              <a:rPr sz="900" b="0" dirty="0">
                <a:solidFill>
                  <a:srgbClr val="60667C"/>
                </a:solidFill>
                <a:latin typeface="Aptos"/>
              </a:rPr>
              <a:t> · </a:t>
            </a:r>
            <a:r>
              <a:rPr sz="900" b="0" dirty="0" err="1">
                <a:solidFill>
                  <a:srgbClr val="60667C"/>
                </a:solidFill>
                <a:latin typeface="Aptos"/>
              </a:rPr>
              <a:t>확장</a:t>
            </a:r>
            <a:endParaRPr sz="9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5720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dirty="0">
                <a:solidFill>
                  <a:srgbClr val="695BFF"/>
                </a:solidFill>
                <a:latin typeface="Aptos"/>
              </a:rPr>
              <a:t>01</a:t>
            </a:r>
            <a:r>
              <a:rPr lang="ko-KR" altLang="en-US" sz="900" b="1" dirty="0">
                <a:solidFill>
                  <a:srgbClr val="6454FF"/>
                </a:solidFill>
                <a:latin typeface="Aptos"/>
              </a:rPr>
              <a:t> </a:t>
            </a:r>
            <a:r>
              <a:rPr lang="en-US" altLang="ko-KR" sz="900" b="1" dirty="0">
                <a:solidFill>
                  <a:srgbClr val="6454FF"/>
                </a:solidFill>
                <a:latin typeface="Aptos"/>
              </a:rPr>
              <a:t>·</a:t>
            </a:r>
            <a:r>
              <a:rPr sz="900" b="1" dirty="0">
                <a:solidFill>
                  <a:srgbClr val="695BFF"/>
                </a:solidFill>
                <a:latin typeface="Aptos"/>
              </a:rPr>
              <a:t> </a:t>
            </a:r>
            <a:r>
              <a:rPr lang="en-US" sz="900" b="1" dirty="0">
                <a:solidFill>
                  <a:srgbClr val="695BFF"/>
                </a:solidFill>
                <a:latin typeface="Aptos"/>
              </a:rPr>
              <a:t>WHY </a:t>
            </a:r>
            <a:endParaRPr sz="900" b="1" dirty="0">
              <a:solidFill>
                <a:srgbClr val="695B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64332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81922"/>
                </a:solidFill>
                <a:latin typeface="Aptos"/>
              </a:rPr>
              <a:t>왜 시청률 하나만으로는 부족할까</a:t>
            </a:r>
            <a:r>
              <a:rPr lang="en-US" altLang="ko-KR" sz="2700" b="1" dirty="0">
                <a:solidFill>
                  <a:srgbClr val="181922"/>
                </a:solidFill>
                <a:latin typeface="Apto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8832" y="6455664"/>
            <a:ext cx="353568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B9EAC"/>
                </a:solidFill>
                <a:latin typeface="Aptos"/>
              </a:rPr>
              <a:t>04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5E90A0B-1474-4DEC-B051-FF9830CA5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147" y="1885947"/>
            <a:ext cx="5088650" cy="3308913"/>
          </a:xfrm>
          <a:prstGeom prst="rect">
            <a:avLst/>
          </a:prstGeom>
          <a:ln w="3175">
            <a:solidFill>
              <a:srgbClr val="0E1020"/>
            </a:solidFill>
          </a:ln>
          <a:effectLst/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7FE0725-1BE9-463D-A032-54354DFE6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65" y="1885948"/>
            <a:ext cx="4850526" cy="3308913"/>
          </a:xfrm>
          <a:prstGeom prst="rect">
            <a:avLst/>
          </a:prstGeom>
          <a:ln w="3175">
            <a:solidFill>
              <a:srgbClr val="0E1020"/>
            </a:solidFill>
          </a:ln>
          <a:effectLst/>
        </p:spPr>
      </p:pic>
      <p:grpSp>
        <p:nvGrpSpPr>
          <p:cNvPr id="18" name="그룹 17"/>
          <p:cNvGrpSpPr/>
          <p:nvPr/>
        </p:nvGrpSpPr>
        <p:grpSpPr>
          <a:xfrm>
            <a:off x="826220" y="5581813"/>
            <a:ext cx="10972800" cy="619179"/>
            <a:chOff x="621792" y="4947608"/>
            <a:chExt cx="10972800" cy="619179"/>
          </a:xfrm>
        </p:grpSpPr>
        <p:sp>
          <p:nvSpPr>
            <p:cNvPr id="19" name="Rounded Rectangle 7"/>
            <p:cNvSpPr/>
            <p:nvPr/>
          </p:nvSpPr>
          <p:spPr>
            <a:xfrm>
              <a:off x="621792" y="4947608"/>
              <a:ext cx="10972800" cy="619179"/>
            </a:xfrm>
            <a:prstGeom prst="roundRect">
              <a:avLst/>
            </a:prstGeom>
            <a:solidFill>
              <a:srgbClr val="0F1120"/>
            </a:solidFill>
            <a:ln>
              <a:solidFill>
                <a:srgbClr val="0F11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49403" y="5127388"/>
              <a:ext cx="7604361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ko-KR" altLang="en-US" sz="1100" b="1" dirty="0">
                  <a:solidFill>
                    <a:srgbClr val="FFFFFF"/>
                  </a:solidFill>
                  <a:latin typeface="Aptos"/>
                </a:rPr>
                <a:t>콘텐츠를 바라보는 기준은 </a:t>
              </a:r>
              <a:r>
                <a:rPr lang="en-US" altLang="ko-KR" sz="1100" b="1" dirty="0">
                  <a:solidFill>
                    <a:srgbClr val="FFFFFF"/>
                  </a:solidFill>
                  <a:latin typeface="Aptos"/>
                </a:rPr>
                <a:t>TV </a:t>
              </a:r>
              <a:r>
                <a:rPr lang="ko-KR" altLang="en-US" sz="1100" b="1" dirty="0">
                  <a:solidFill>
                    <a:srgbClr val="FFFFFF"/>
                  </a:solidFill>
                  <a:latin typeface="Aptos"/>
                </a:rPr>
                <a:t>시청률을 넘어 다양한 시청자 반응 데이터로 확장되고 있다</a:t>
              </a:r>
              <a:endParaRPr sz="1100" b="1" dirty="0">
                <a:solidFill>
                  <a:srgbClr val="FFFFFF"/>
                </a:solidFill>
                <a:latin typeface="Aptos"/>
              </a:endParaRPr>
            </a:p>
          </p:txBody>
        </p:sp>
      </p:grpSp>
      <p:sp>
        <p:nvSpPr>
          <p:cNvPr id="35" name="Rounded Rectangle 5"/>
          <p:cNvSpPr/>
          <p:nvPr/>
        </p:nvSpPr>
        <p:spPr>
          <a:xfrm>
            <a:off x="860896" y="1399267"/>
            <a:ext cx="4459376" cy="2743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4063" y="1435203"/>
            <a:ext cx="1236258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00" b="1" dirty="0">
                <a:solidFill>
                  <a:srgbClr val="3573F0"/>
                </a:solidFill>
                <a:latin typeface="Aptos"/>
              </a:rPr>
              <a:t>1. </a:t>
            </a:r>
            <a:r>
              <a:rPr lang="ko-KR" altLang="en-US" sz="800" b="1" dirty="0">
                <a:solidFill>
                  <a:srgbClr val="3573F0"/>
                </a:solidFill>
                <a:latin typeface="Aptos"/>
              </a:rPr>
              <a:t>시청 환경의 변화</a:t>
            </a:r>
            <a:endParaRPr sz="800" b="1" dirty="0">
              <a:solidFill>
                <a:srgbClr val="3573F0"/>
              </a:solidFill>
              <a:latin typeface="Aptos"/>
            </a:endParaRPr>
          </a:p>
        </p:txBody>
      </p:sp>
      <p:sp>
        <p:nvSpPr>
          <p:cNvPr id="37" name="Rounded Rectangle 5"/>
          <p:cNvSpPr/>
          <p:nvPr/>
        </p:nvSpPr>
        <p:spPr>
          <a:xfrm>
            <a:off x="6456886" y="1408270"/>
            <a:ext cx="4657060" cy="2743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0053" y="1444206"/>
            <a:ext cx="1236258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00" b="1" dirty="0">
                <a:solidFill>
                  <a:srgbClr val="3573F0"/>
                </a:solidFill>
                <a:latin typeface="Aptos"/>
              </a:rPr>
              <a:t>2. </a:t>
            </a:r>
            <a:r>
              <a:rPr lang="ko-KR" altLang="en-US" sz="800" b="1" dirty="0">
                <a:solidFill>
                  <a:srgbClr val="3573F0"/>
                </a:solidFill>
                <a:latin typeface="Aptos"/>
              </a:rPr>
              <a:t>분석 기준의 변화</a:t>
            </a:r>
            <a:endParaRPr sz="800" b="1" dirty="0">
              <a:solidFill>
                <a:srgbClr val="3573F0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73988" y="1422892"/>
            <a:ext cx="3028381" cy="227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80" b="1" dirty="0">
                <a:solidFill>
                  <a:srgbClr val="64687A"/>
                </a:solidFill>
                <a:latin typeface="Aptos"/>
              </a:rPr>
              <a:t>IPTV </a:t>
            </a:r>
            <a:r>
              <a:rPr lang="ko-KR" altLang="en-US" sz="880" b="1" dirty="0">
                <a:solidFill>
                  <a:srgbClr val="64687A"/>
                </a:solidFill>
                <a:latin typeface="Aptos"/>
              </a:rPr>
              <a:t>등 시청 방식이 다양해지고 있다</a:t>
            </a:r>
            <a:endParaRPr sz="880" b="1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93145" y="1444360"/>
            <a:ext cx="3111713" cy="227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880" b="1" dirty="0">
                <a:solidFill>
                  <a:srgbClr val="64687A"/>
                </a:solidFill>
                <a:latin typeface="Aptos"/>
              </a:rPr>
              <a:t>시청률 뿐 아니라 온라인 반응도 함께 분석되고 있다</a:t>
            </a:r>
            <a:endParaRPr sz="880" b="1" dirty="0">
              <a:solidFill>
                <a:srgbClr val="6468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01 · 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USER</a:t>
            </a:r>
            <a:endParaRPr sz="85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91B26"/>
                </a:solidFill>
                <a:latin typeface="Aptos"/>
              </a:rPr>
              <a:t>누구에게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필요한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서비스인가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731520" cy="274320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3069E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1B26"/>
                </a:solidFill>
                <a:latin typeface="Aptos"/>
              </a:rPr>
              <a:t>PD · 콘텐츠 기획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0667C"/>
                </a:solidFill>
                <a:latin typeface="Aptos"/>
              </a:rPr>
              <a:t>기존 콘텐츠의 강점과 반응 구조를 파악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731520" cy="2743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322576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52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1B26"/>
                </a:solidFill>
                <a:latin typeface="Aptos"/>
              </a:rPr>
              <a:t>마케팅 · 편성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204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0667C"/>
                </a:solidFill>
                <a:latin typeface="Aptos"/>
              </a:rPr>
              <a:t>타깃과 디지털 반응을 함께 검토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66760" y="2286000"/>
            <a:ext cx="731520" cy="274320"/>
          </a:xfrm>
          <a:prstGeom prst="roundRect">
            <a:avLst/>
          </a:prstGeom>
          <a:solidFill>
            <a:srgbClr val="E8F8F1"/>
          </a:solidFill>
          <a:ln>
            <a:solidFill>
              <a:srgbClr val="E8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322576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0A56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1B26"/>
                </a:solidFill>
                <a:latin typeface="Aptos"/>
              </a:rPr>
              <a:t>광고 · 협찬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204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0667C"/>
                </a:solidFill>
                <a:latin typeface="Aptos"/>
              </a:rPr>
              <a:t>브랜드 협업 검토 후보를 탐색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80"/>
            <a:ext cx="11018520" cy="640080"/>
          </a:xfrm>
          <a:prstGeom prst="roundRect">
            <a:avLst/>
          </a:prstGeom>
          <a:solidFill>
            <a:srgbClr val="0E1020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104241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하나의 분석 결과를 콘텐츠 기획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</a:rPr>
              <a:t>편성</a:t>
            </a:r>
            <a:r>
              <a:rPr lang="en-US" altLang="ko-KR" sz="1000" dirty="0">
                <a:solidFill>
                  <a:schemeClr val="bg1"/>
                </a:solidFill>
              </a:rPr>
              <a:t>/</a:t>
            </a:r>
            <a:r>
              <a:rPr lang="ko-KR" altLang="en-US" sz="1000" dirty="0">
                <a:solidFill>
                  <a:schemeClr val="bg1"/>
                </a:solidFill>
              </a:rPr>
              <a:t>마케팅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</a:rPr>
              <a:t>광고</a:t>
            </a:r>
            <a:r>
              <a:rPr lang="en-US" altLang="ko-KR" sz="1000" dirty="0">
                <a:solidFill>
                  <a:schemeClr val="bg1"/>
                </a:solidFill>
              </a:rPr>
              <a:t>/</a:t>
            </a:r>
            <a:r>
              <a:rPr lang="ko-KR" altLang="en-US" sz="1000" dirty="0">
                <a:solidFill>
                  <a:schemeClr val="bg1"/>
                </a:solidFill>
              </a:rPr>
              <a:t>협찬 검토까지 연결 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6454FF"/>
                </a:solidFill>
                <a:latin typeface="Aptos"/>
              </a:rPr>
              <a:t>02 ·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71924"/>
                </a:solidFill>
                <a:latin typeface="Aptos"/>
              </a:rPr>
              <a:t>데이터</a:t>
            </a:r>
            <a:r>
              <a:rPr sz="2500" b="1" dirty="0">
                <a:solidFill>
                  <a:srgbClr val="171924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71924"/>
                </a:solidFill>
                <a:latin typeface="Aptos"/>
              </a:rPr>
              <a:t>출처</a:t>
            </a:r>
            <a:r>
              <a:rPr sz="2500" b="1" dirty="0">
                <a:solidFill>
                  <a:srgbClr val="171924"/>
                </a:solidFill>
                <a:latin typeface="Aptos"/>
              </a:rPr>
              <a:t> </a:t>
            </a:r>
            <a:r>
              <a:rPr lang="en-US" sz="2500" b="1" dirty="0">
                <a:solidFill>
                  <a:srgbClr val="171924"/>
                </a:solidFill>
                <a:latin typeface="Aptos"/>
              </a:rPr>
              <a:t>: </a:t>
            </a:r>
            <a:r>
              <a:rPr sz="2500" b="1" dirty="0">
                <a:solidFill>
                  <a:srgbClr val="171924"/>
                </a:solidFill>
                <a:latin typeface="Aptos"/>
              </a:rPr>
              <a:t>RACOI</a:t>
            </a:r>
          </a:p>
        </p:txBody>
      </p:sp>
      <p:grpSp>
        <p:nvGrpSpPr>
          <p:cNvPr id="38" name="그룹 37"/>
          <p:cNvGrpSpPr/>
          <p:nvPr/>
        </p:nvGrpSpPr>
        <p:grpSpPr>
          <a:xfrm>
            <a:off x="804671" y="1275082"/>
            <a:ext cx="2028176" cy="274320"/>
            <a:chOff x="7850231" y="2738348"/>
            <a:chExt cx="1143000" cy="274320"/>
          </a:xfrm>
        </p:grpSpPr>
        <p:sp>
          <p:nvSpPr>
            <p:cNvPr id="6" name="Rounded Rectangle 5"/>
            <p:cNvSpPr/>
            <p:nvPr/>
          </p:nvSpPr>
          <p:spPr>
            <a:xfrm>
              <a:off x="7850231" y="2738348"/>
              <a:ext cx="1143000" cy="274320"/>
            </a:xfrm>
            <a:prstGeom prst="roundRect">
              <a:avLst/>
            </a:prstGeom>
            <a:solidFill>
              <a:srgbClr val="272841"/>
            </a:solidFill>
            <a:ln>
              <a:solidFill>
                <a:srgbClr val="2728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50231" y="2783364"/>
              <a:ext cx="1143000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 dirty="0">
                  <a:solidFill>
                    <a:srgbClr val="A9A0FF"/>
                  </a:solidFill>
                  <a:latin typeface="Aptos"/>
                </a:rPr>
                <a:t>RACOI</a:t>
              </a:r>
              <a:r>
                <a:rPr lang="ko-KR" altLang="en-US" sz="800" b="1" dirty="0">
                  <a:solidFill>
                    <a:srgbClr val="A9A0FF"/>
                  </a:solidFill>
                  <a:latin typeface="Aptos"/>
                </a:rPr>
                <a:t>는</a:t>
              </a:r>
              <a:r>
                <a:rPr lang="en-US" sz="800" b="1" dirty="0">
                  <a:solidFill>
                    <a:srgbClr val="A9A0FF"/>
                  </a:solidFill>
                  <a:latin typeface="Aptos"/>
                </a:rPr>
                <a:t> </a:t>
              </a:r>
              <a:r>
                <a:rPr lang="ko-KR" altLang="en-US" sz="800" b="1" dirty="0">
                  <a:solidFill>
                    <a:srgbClr val="A9A0FF"/>
                  </a:solidFill>
                  <a:latin typeface="Aptos"/>
                </a:rPr>
                <a:t>어떤 데이터인가</a:t>
              </a:r>
              <a:r>
                <a:rPr lang="en-US" altLang="ko-KR" sz="800" b="1" dirty="0">
                  <a:solidFill>
                    <a:srgbClr val="A9A0FF"/>
                  </a:solidFill>
                  <a:latin typeface="Aptos"/>
                </a:rPr>
                <a:t>?</a:t>
              </a:r>
              <a:endParaRPr sz="800" b="1" dirty="0">
                <a:solidFill>
                  <a:srgbClr val="A9A0FF"/>
                </a:solidFill>
                <a:latin typeface="Aptos"/>
              </a:endParaRP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7068311" y="4233056"/>
            <a:ext cx="3923832" cy="1745514"/>
          </a:xfrm>
          <a:prstGeom prst="roundRect">
            <a:avLst/>
          </a:prstGeom>
          <a:solidFill>
            <a:srgbClr val="FFFFFF"/>
          </a:solidFill>
          <a:ln>
            <a:solidFill>
              <a:srgbClr val="E1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1631233"/>
            <a:ext cx="62636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dirty="0" err="1">
                <a:solidFill>
                  <a:srgbClr val="171924"/>
                </a:solidFill>
                <a:latin typeface="Aptos"/>
              </a:rPr>
              <a:t>KOBACO가</a:t>
            </a:r>
            <a:r>
              <a:rPr sz="1050" dirty="0">
                <a:solidFill>
                  <a:srgbClr val="171924"/>
                </a:solidFill>
                <a:latin typeface="Aptos"/>
              </a:rPr>
              <a:t> </a:t>
            </a:r>
            <a:r>
              <a:rPr lang="ko-KR" altLang="en-US" sz="1050" dirty="0">
                <a:solidFill>
                  <a:srgbClr val="171924"/>
                </a:solidFill>
                <a:latin typeface="Aptos"/>
              </a:rPr>
              <a:t>주요 방송 콘텐츠와 출연진에 대한 </a:t>
            </a:r>
            <a:r>
              <a:rPr lang="ko-KR" altLang="en-US" sz="1050" b="1" dirty="0">
                <a:solidFill>
                  <a:srgbClr val="171924"/>
                </a:solidFill>
                <a:latin typeface="Aptos"/>
              </a:rPr>
              <a:t>인터넷 </a:t>
            </a:r>
            <a:r>
              <a:rPr lang="ko-KR" altLang="en-US" sz="1050" b="1" dirty="0" err="1">
                <a:solidFill>
                  <a:srgbClr val="171924"/>
                </a:solidFill>
                <a:latin typeface="Aptos"/>
              </a:rPr>
              <a:t>버즈</a:t>
            </a:r>
            <a:r>
              <a:rPr lang="ko-KR" altLang="en-US" sz="1050" b="1" dirty="0">
                <a:solidFill>
                  <a:srgbClr val="171924"/>
                </a:solidFill>
                <a:latin typeface="Aptos"/>
              </a:rPr>
              <a:t> 데이터를 수집 </a:t>
            </a:r>
            <a:r>
              <a:rPr lang="en-US" altLang="ko-KR" sz="1050" dirty="0"/>
              <a:t>· </a:t>
            </a:r>
            <a:r>
              <a:rPr lang="ko-KR" altLang="en-US" sz="1050" b="1" dirty="0">
                <a:solidFill>
                  <a:srgbClr val="171924"/>
                </a:solidFill>
                <a:latin typeface="Aptos"/>
              </a:rPr>
              <a:t>분석</a:t>
            </a:r>
            <a:r>
              <a:rPr lang="ko-KR" altLang="en-US" sz="1050" dirty="0">
                <a:solidFill>
                  <a:srgbClr val="171924"/>
                </a:solidFill>
                <a:latin typeface="Aptos"/>
              </a:rPr>
              <a:t>하여</a:t>
            </a:r>
            <a:endParaRPr lang="en-US" altLang="ko-KR" sz="1050" dirty="0">
              <a:solidFill>
                <a:srgbClr val="171924"/>
              </a:solidFill>
              <a:latin typeface="Aptos"/>
            </a:endParaRPr>
          </a:p>
          <a:p>
            <a:pPr algn="l"/>
            <a:r>
              <a:rPr lang="en-US" sz="1050" b="1" dirty="0">
                <a:solidFill>
                  <a:srgbClr val="171924"/>
                </a:solidFill>
                <a:latin typeface="Aptos"/>
              </a:rPr>
              <a:t>TV </a:t>
            </a:r>
            <a:r>
              <a:rPr lang="ko-KR" altLang="en-US" sz="1050" b="1" dirty="0">
                <a:solidFill>
                  <a:srgbClr val="171924"/>
                </a:solidFill>
                <a:latin typeface="Aptos"/>
              </a:rPr>
              <a:t>시청률만으로 파악하기 어려운 콘텐츠 반응을 살펴볼 수 있도록 제공</a:t>
            </a:r>
            <a:r>
              <a:rPr lang="ko-KR" altLang="en-US" sz="1050" dirty="0">
                <a:solidFill>
                  <a:srgbClr val="171924"/>
                </a:solidFill>
                <a:latin typeface="Aptos"/>
              </a:rPr>
              <a:t>하는 조사</a:t>
            </a:r>
            <a:endParaRPr sz="1050" dirty="0">
              <a:solidFill>
                <a:srgbClr val="171924"/>
              </a:solidFill>
              <a:latin typeface="Aptos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7485071" y="4530062"/>
            <a:ext cx="6053328" cy="1097280"/>
            <a:chOff x="4892040" y="3849976"/>
            <a:chExt cx="6053328" cy="1097280"/>
          </a:xfrm>
        </p:grpSpPr>
        <p:sp>
          <p:nvSpPr>
            <p:cNvPr id="15" name="Rounded Rectangle 14"/>
            <p:cNvSpPr/>
            <p:nvPr/>
          </p:nvSpPr>
          <p:spPr>
            <a:xfrm>
              <a:off x="4892040" y="3849976"/>
              <a:ext cx="1078992" cy="274320"/>
            </a:xfrm>
            <a:prstGeom prst="roundRect">
              <a:avLst/>
            </a:prstGeom>
            <a:solidFill>
              <a:srgbClr val="EBF2FF"/>
            </a:solidFill>
            <a:ln>
              <a:solidFill>
                <a:srgbClr val="EBF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92040" y="3886200"/>
              <a:ext cx="1078992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 dirty="0" err="1">
                  <a:solidFill>
                    <a:srgbClr val="3573F0"/>
                  </a:solidFill>
                  <a:latin typeface="Aptos"/>
                </a:rPr>
                <a:t>시청자</a:t>
              </a:r>
              <a:r>
                <a:rPr sz="800" b="1" dirty="0">
                  <a:solidFill>
                    <a:srgbClr val="3573F0"/>
                  </a:solidFill>
                  <a:latin typeface="Aptos"/>
                </a:rPr>
                <a:t> </a:t>
              </a:r>
              <a:r>
                <a:rPr sz="800" b="1" dirty="0" err="1">
                  <a:solidFill>
                    <a:srgbClr val="3573F0"/>
                  </a:solidFill>
                  <a:latin typeface="Aptos"/>
                </a:rPr>
                <a:t>버즈</a:t>
              </a:r>
              <a:endParaRPr sz="800" b="1" dirty="0">
                <a:solidFill>
                  <a:srgbClr val="3573F0"/>
                </a:solidFill>
                <a:latin typeface="Apto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44768" y="3877055"/>
              <a:ext cx="4800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80" b="1" dirty="0" err="1">
                  <a:solidFill>
                    <a:srgbClr val="64687A"/>
                  </a:solidFill>
                  <a:latin typeface="Aptos"/>
                </a:rPr>
                <a:t>게시글</a:t>
              </a:r>
              <a:r>
                <a:rPr sz="880" b="1" dirty="0">
                  <a:solidFill>
                    <a:srgbClr val="64687A"/>
                  </a:solidFill>
                  <a:latin typeface="Aptos"/>
                </a:rPr>
                <a:t> 수 · </a:t>
              </a:r>
              <a:r>
                <a:rPr sz="880" b="1" dirty="0" err="1">
                  <a:solidFill>
                    <a:srgbClr val="64687A"/>
                  </a:solidFill>
                  <a:latin typeface="Aptos"/>
                </a:rPr>
                <a:t>댓글</a:t>
              </a:r>
              <a:r>
                <a:rPr sz="880" b="1" dirty="0">
                  <a:solidFill>
                    <a:srgbClr val="64687A"/>
                  </a:solidFill>
                  <a:latin typeface="Aptos"/>
                </a:rPr>
                <a:t> 수 · </a:t>
              </a:r>
              <a:r>
                <a:rPr sz="880" b="1" dirty="0" err="1">
                  <a:solidFill>
                    <a:srgbClr val="64687A"/>
                  </a:solidFill>
                  <a:latin typeface="Aptos"/>
                </a:rPr>
                <a:t>동영상</a:t>
              </a:r>
              <a:r>
                <a:rPr sz="880" b="1" dirty="0">
                  <a:solidFill>
                    <a:srgbClr val="64687A"/>
                  </a:solidFill>
                  <a:latin typeface="Aptos"/>
                </a:rPr>
                <a:t> </a:t>
              </a:r>
              <a:r>
                <a:rPr sz="880" b="1" dirty="0" err="1">
                  <a:solidFill>
                    <a:srgbClr val="64687A"/>
                  </a:solidFill>
                  <a:latin typeface="Aptos"/>
                </a:rPr>
                <a:t>조회</a:t>
              </a:r>
              <a:r>
                <a:rPr sz="880" b="1" dirty="0">
                  <a:solidFill>
                    <a:srgbClr val="64687A"/>
                  </a:solidFill>
                  <a:latin typeface="Aptos"/>
                </a:rPr>
                <a:t> 수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892040" y="4261456"/>
              <a:ext cx="1078992" cy="274320"/>
            </a:xfrm>
            <a:prstGeom prst="roundRect">
              <a:avLst/>
            </a:prstGeom>
            <a:solidFill>
              <a:srgbClr val="EBF2FF"/>
            </a:solidFill>
            <a:ln>
              <a:solidFill>
                <a:srgbClr val="EBF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92040" y="4297680"/>
              <a:ext cx="1078992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>
                  <a:solidFill>
                    <a:srgbClr val="3573F0"/>
                  </a:solidFill>
                  <a:latin typeface="Aptos"/>
                </a:rPr>
                <a:t>미디어 버즈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44768" y="4288536"/>
              <a:ext cx="4800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80" b="1" dirty="0" err="1">
                  <a:solidFill>
                    <a:srgbClr val="64687A"/>
                  </a:solidFill>
                  <a:latin typeface="Aptos"/>
                </a:rPr>
                <a:t>뉴스</a:t>
              </a:r>
              <a:r>
                <a:rPr sz="880" b="1" dirty="0">
                  <a:solidFill>
                    <a:srgbClr val="64687A"/>
                  </a:solidFill>
                  <a:latin typeface="Aptos"/>
                </a:rPr>
                <a:t> 수 · </a:t>
              </a:r>
              <a:r>
                <a:rPr sz="880" b="1" dirty="0" err="1">
                  <a:solidFill>
                    <a:srgbClr val="64687A"/>
                  </a:solidFill>
                  <a:latin typeface="Aptos"/>
                </a:rPr>
                <a:t>동영상</a:t>
              </a:r>
              <a:r>
                <a:rPr sz="880" b="1" dirty="0">
                  <a:solidFill>
                    <a:srgbClr val="64687A"/>
                  </a:solidFill>
                  <a:latin typeface="Aptos"/>
                </a:rPr>
                <a:t> 수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892040" y="4672936"/>
              <a:ext cx="1078992" cy="274320"/>
            </a:xfrm>
            <a:prstGeom prst="roundRect">
              <a:avLst/>
            </a:prstGeom>
            <a:solidFill>
              <a:srgbClr val="EFECFF"/>
            </a:solidFill>
            <a:ln>
              <a:solidFill>
                <a:srgbClr val="EFEC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92040" y="4709160"/>
              <a:ext cx="1078992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>
                  <a:solidFill>
                    <a:srgbClr val="6454FF"/>
                  </a:solidFill>
                  <a:latin typeface="Aptos"/>
                </a:rPr>
                <a:t>시청 지표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44768" y="4700016"/>
              <a:ext cx="4800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80" b="1">
                  <a:solidFill>
                    <a:srgbClr val="64687A"/>
                  </a:solidFill>
                  <a:latin typeface="Aptos"/>
                </a:rPr>
                <a:t>TV 시청률 · 시청자수 등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115568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78A9D"/>
                </a:solidFill>
                <a:latin typeface="Aptos"/>
              </a:rPr>
              <a:t>06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25" y="2285191"/>
            <a:ext cx="5170868" cy="3743921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rgbClr val="FFFFFF"/>
            </a:solidFill>
          </a:ln>
          <a:effectLst/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333" y="2284405"/>
            <a:ext cx="4295915" cy="1056886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rgbClr val="FFFFFF"/>
            </a:solidFill>
          </a:ln>
          <a:effectLst/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2" name="TextBox 41"/>
          <p:cNvSpPr txBox="1"/>
          <p:nvPr/>
        </p:nvSpPr>
        <p:spPr>
          <a:xfrm>
            <a:off x="9649437" y="3518342"/>
            <a:ext cx="1580103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30" b="0" dirty="0">
                <a:solidFill>
                  <a:srgbClr val="64687A"/>
                </a:solidFill>
                <a:latin typeface="Aptos"/>
              </a:rPr>
              <a:t>RACOI </a:t>
            </a:r>
            <a:r>
              <a:rPr lang="ko-KR" altLang="en-US" sz="830" b="0" dirty="0">
                <a:solidFill>
                  <a:srgbClr val="64687A"/>
                </a:solidFill>
                <a:latin typeface="Aptos"/>
              </a:rPr>
              <a:t>데이터 제공 메뉴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897425" y="6226460"/>
            <a:ext cx="2607878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30" b="0" dirty="0">
                <a:solidFill>
                  <a:srgbClr val="64687A"/>
                </a:solidFill>
                <a:latin typeface="Aptos"/>
              </a:rPr>
              <a:t>RACOI </a:t>
            </a:r>
            <a:r>
              <a:rPr lang="ko-KR" altLang="en-US" sz="830" b="0" dirty="0" err="1">
                <a:solidFill>
                  <a:srgbClr val="64687A"/>
                </a:solidFill>
                <a:latin typeface="Aptos"/>
              </a:rPr>
              <a:t>방송콘텐츠</a:t>
            </a:r>
            <a:r>
              <a:rPr lang="ko-KR" altLang="en-US" sz="830" b="0" dirty="0">
                <a:solidFill>
                  <a:srgbClr val="64687A"/>
                </a:solidFill>
                <a:latin typeface="Aptos"/>
              </a:rPr>
              <a:t> </a:t>
            </a:r>
            <a:r>
              <a:rPr lang="ko-KR" altLang="en-US" sz="830" b="0" dirty="0" err="1">
                <a:solidFill>
                  <a:srgbClr val="64687A"/>
                </a:solidFill>
                <a:latin typeface="Aptos"/>
              </a:rPr>
              <a:t>인터넷반응</a:t>
            </a:r>
            <a:r>
              <a:rPr lang="ko-KR" altLang="en-US" sz="830" b="0" dirty="0">
                <a:solidFill>
                  <a:srgbClr val="64687A"/>
                </a:solidFill>
                <a:latin typeface="Aptos"/>
              </a:rPr>
              <a:t> 조사 화면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E82F3FA-CC7A-49DE-8B2A-1E93F240AEAD}"/>
              </a:ext>
            </a:extLst>
          </p:cNvPr>
          <p:cNvGrpSpPr/>
          <p:nvPr/>
        </p:nvGrpSpPr>
        <p:grpSpPr>
          <a:xfrm>
            <a:off x="7234698" y="4076449"/>
            <a:ext cx="1151811" cy="274320"/>
            <a:chOff x="7850231" y="2738348"/>
            <a:chExt cx="1143002" cy="274320"/>
          </a:xfrm>
        </p:grpSpPr>
        <p:sp>
          <p:nvSpPr>
            <p:cNvPr id="27" name="Rounded Rectangle 5">
              <a:extLst>
                <a:ext uri="{FF2B5EF4-FFF2-40B4-BE49-F238E27FC236}">
                  <a16:creationId xmlns:a16="http://schemas.microsoft.com/office/drawing/2014/main" id="{75A4E57A-3C27-443F-B9FE-DB64374D429C}"/>
                </a:ext>
              </a:extLst>
            </p:cNvPr>
            <p:cNvSpPr/>
            <p:nvPr/>
          </p:nvSpPr>
          <p:spPr>
            <a:xfrm>
              <a:off x="7850231" y="2738348"/>
              <a:ext cx="1143000" cy="274320"/>
            </a:xfrm>
            <a:prstGeom prst="roundRect">
              <a:avLst/>
            </a:prstGeom>
            <a:solidFill>
              <a:srgbClr val="272841"/>
            </a:solidFill>
            <a:ln>
              <a:solidFill>
                <a:srgbClr val="2728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790C3E-AA02-4960-8445-4E56578EE3F5}"/>
                </a:ext>
              </a:extLst>
            </p:cNvPr>
            <p:cNvSpPr txBox="1"/>
            <p:nvPr/>
          </p:nvSpPr>
          <p:spPr>
            <a:xfrm>
              <a:off x="7850233" y="2783364"/>
              <a:ext cx="1143000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A9A0FF"/>
                  </a:solidFill>
                  <a:latin typeface="Aptos"/>
                </a:rPr>
                <a:t>주요 조사 지표</a:t>
              </a:r>
              <a:endParaRPr sz="800" b="1" dirty="0">
                <a:solidFill>
                  <a:srgbClr val="A9A0FF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02 · DATA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 SOURCE</a:t>
            </a:r>
            <a:endParaRPr sz="85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실제로 어떤 데이터를 가지고 시작했는가</a:t>
            </a:r>
            <a:r>
              <a:rPr lang="en-US" altLang="ko-KR" sz="2500" b="1" dirty="0">
                <a:solidFill>
                  <a:srgbClr val="191B26"/>
                </a:solidFill>
                <a:latin typeface="Aptos"/>
              </a:rPr>
              <a:t>? 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106424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분석은 실제 </a:t>
            </a:r>
            <a:r>
              <a:rPr lang="en-US" altLang="ko-KR" sz="1000" dirty="0">
                <a:solidFill>
                  <a:srgbClr val="60667C"/>
                </a:solidFill>
                <a:latin typeface="Aptos"/>
              </a:rPr>
              <a:t>RACOI </a:t>
            </a:r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원본 데이터에서 시작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90769" y="5537451"/>
            <a:ext cx="3595761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60667C"/>
                </a:solidFill>
                <a:latin typeface="Aptos"/>
              </a:rPr>
              <a:t>2,078개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주차별</a:t>
            </a:r>
            <a:r>
              <a:rPr sz="8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관측치</a:t>
            </a:r>
            <a:r>
              <a:rPr lang="en-US" sz="8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850" b="1" dirty="0">
                <a:solidFill>
                  <a:srgbClr val="60667C"/>
                </a:solidFill>
                <a:latin typeface="Aptos"/>
              </a:rPr>
              <a:t>·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다중</a:t>
            </a:r>
            <a:r>
              <a:rPr sz="8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헤더</a:t>
            </a:r>
            <a:r>
              <a:rPr sz="850" b="1" dirty="0">
                <a:solidFill>
                  <a:srgbClr val="60667C"/>
                </a:solidFill>
                <a:latin typeface="Aptos"/>
              </a:rPr>
              <a:t> ·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숫자형</a:t>
            </a:r>
            <a:r>
              <a:rPr sz="8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컬럼</a:t>
            </a:r>
            <a:r>
              <a:rPr sz="850" b="1" dirty="0">
                <a:solidFill>
                  <a:srgbClr val="60667C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0667C"/>
                </a:solidFill>
                <a:latin typeface="Aptos"/>
              </a:rPr>
              <a:t>확인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07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930B59D-79F6-4A16-956E-EF4437CE58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66"/>
          <a:stretch/>
        </p:blipFill>
        <p:spPr>
          <a:xfrm>
            <a:off x="438912" y="2228016"/>
            <a:ext cx="11353640" cy="3080963"/>
          </a:xfrm>
          <a:prstGeom prst="rect">
            <a:avLst/>
          </a:prstGeom>
          <a:ln w="3175">
            <a:solidFill>
              <a:srgbClr val="0E1020"/>
            </a:solidFill>
          </a:ln>
          <a:effectLst/>
        </p:spPr>
      </p:pic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DB3AD053-4393-48DB-AE19-28D4F1B0B23C}"/>
              </a:ext>
            </a:extLst>
          </p:cNvPr>
          <p:cNvSpPr/>
          <p:nvPr/>
        </p:nvSpPr>
        <p:spPr>
          <a:xfrm>
            <a:off x="438912" y="1758797"/>
            <a:ext cx="1129538" cy="274320"/>
          </a:xfrm>
          <a:prstGeom prst="roundRect">
            <a:avLst/>
          </a:prstGeom>
          <a:solidFill>
            <a:srgbClr val="272841"/>
          </a:solidFill>
          <a:ln>
            <a:solidFill>
              <a:srgbClr val="27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CC60FE-F0D8-43DC-BAE0-A83C55399B6D}"/>
              </a:ext>
            </a:extLst>
          </p:cNvPr>
          <p:cNvSpPr txBox="1"/>
          <p:nvPr/>
        </p:nvSpPr>
        <p:spPr>
          <a:xfrm>
            <a:off x="438912" y="1802033"/>
            <a:ext cx="1129538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00" b="1" dirty="0">
                <a:solidFill>
                  <a:srgbClr val="A9A0FF"/>
                </a:solidFill>
                <a:latin typeface="Aptos"/>
              </a:rPr>
              <a:t>RAW DATA</a:t>
            </a:r>
            <a:endParaRPr sz="800" b="1" dirty="0">
              <a:solidFill>
                <a:srgbClr val="A9A0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18">
            <a:extLst>
              <a:ext uri="{FF2B5EF4-FFF2-40B4-BE49-F238E27FC236}">
                <a16:creationId xmlns:a16="http://schemas.microsoft.com/office/drawing/2014/main" id="{0D6036C7-04D8-42E6-8582-50D95B80519F}"/>
              </a:ext>
            </a:extLst>
          </p:cNvPr>
          <p:cNvSpPr/>
          <p:nvPr/>
        </p:nvSpPr>
        <p:spPr>
          <a:xfrm>
            <a:off x="393193" y="5565018"/>
            <a:ext cx="7463546" cy="866895"/>
          </a:xfrm>
          <a:prstGeom prst="roundRect">
            <a:avLst/>
          </a:prstGeom>
          <a:solidFill>
            <a:schemeClr val="bg1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02 · DATA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 PROCESSING</a:t>
            </a:r>
            <a:endParaRPr sz="85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472" y="55040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B26"/>
                </a:solidFill>
                <a:latin typeface="Aptos"/>
              </a:rPr>
              <a:t>원본 Excel을 분석 가능한 데이터로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0971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60667C"/>
                </a:solidFill>
                <a:latin typeface="Aptos"/>
              </a:rPr>
              <a:t>원본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구조의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문제를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확인하고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Python ·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pandas로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분석에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필요한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형태로</a:t>
            </a:r>
            <a:r>
              <a:rPr sz="1000" b="0" dirty="0">
                <a:solidFill>
                  <a:srgbClr val="60667C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0667C"/>
                </a:solidFill>
                <a:latin typeface="Aptos"/>
              </a:rPr>
              <a:t>정리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07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7B03A8F-716D-4AD3-8279-9B6A58D32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25199"/>
            <a:ext cx="4553585" cy="108600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82847D0E-6C85-4874-883D-13C31D930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46"/>
          <a:stretch/>
        </p:blipFill>
        <p:spPr>
          <a:xfrm>
            <a:off x="5487502" y="1825200"/>
            <a:ext cx="3751748" cy="108600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F39A01E-1C89-4422-9074-25F91C103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97" y="3140033"/>
            <a:ext cx="4568699" cy="120031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254EFE6-C2A4-4E7D-AFDC-F44FC51EA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796" y="4397733"/>
            <a:ext cx="4568699" cy="86689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64FAF48-6A30-4ACC-A655-B5D9CA1697E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047"/>
          <a:stretch/>
        </p:blipFill>
        <p:spPr>
          <a:xfrm>
            <a:off x="5487501" y="3140033"/>
            <a:ext cx="5847249" cy="2124596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8ACE9A21-A447-47CB-B455-F52510113865}"/>
              </a:ext>
            </a:extLst>
          </p:cNvPr>
          <p:cNvGrpSpPr/>
          <p:nvPr/>
        </p:nvGrpSpPr>
        <p:grpSpPr>
          <a:xfrm>
            <a:off x="438912" y="1472136"/>
            <a:ext cx="1129538" cy="274320"/>
            <a:chOff x="438912" y="1758797"/>
            <a:chExt cx="1129538" cy="274320"/>
          </a:xfrm>
        </p:grpSpPr>
        <p:sp>
          <p:nvSpPr>
            <p:cNvPr id="43" name="Rounded Rectangle 5">
              <a:extLst>
                <a:ext uri="{FF2B5EF4-FFF2-40B4-BE49-F238E27FC236}">
                  <a16:creationId xmlns:a16="http://schemas.microsoft.com/office/drawing/2014/main" id="{CFCBD800-F33C-45CD-BE16-2B4CC5D577B0}"/>
                </a:ext>
              </a:extLst>
            </p:cNvPr>
            <p:cNvSpPr/>
            <p:nvPr/>
          </p:nvSpPr>
          <p:spPr>
            <a:xfrm>
              <a:off x="438912" y="1758797"/>
              <a:ext cx="1129538" cy="274320"/>
            </a:xfrm>
            <a:prstGeom prst="roundRect">
              <a:avLst/>
            </a:prstGeom>
            <a:solidFill>
              <a:srgbClr val="272841"/>
            </a:solidFill>
            <a:ln>
              <a:solidFill>
                <a:srgbClr val="2728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C117D13-4AD6-4BF7-A980-8052EF333552}"/>
                </a:ext>
              </a:extLst>
            </p:cNvPr>
            <p:cNvSpPr txBox="1"/>
            <p:nvPr/>
          </p:nvSpPr>
          <p:spPr>
            <a:xfrm>
              <a:off x="438912" y="1802033"/>
              <a:ext cx="1129538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A9A0FF"/>
                  </a:solidFill>
                  <a:latin typeface="Aptos"/>
                </a:rPr>
                <a:t>PROCESSING</a:t>
              </a:r>
              <a:endParaRPr sz="800" b="1" dirty="0">
                <a:solidFill>
                  <a:srgbClr val="A9A0FF"/>
                </a:solidFill>
                <a:latin typeface="Aptos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3445849" y="1696967"/>
            <a:ext cx="1649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원본 </a:t>
            </a:r>
            <a:r>
              <a:rPr lang="en-US" altLang="ko-KR" sz="1200" dirty="0">
                <a:highlight>
                  <a:srgbClr val="FFFF00"/>
                </a:highlight>
              </a:rPr>
              <a:t>Excel</a:t>
            </a:r>
            <a:r>
              <a:rPr lang="ko-KR" altLang="en-US" sz="1200" dirty="0">
                <a:highlight>
                  <a:srgbClr val="FFFF00"/>
                </a:highlight>
              </a:rPr>
              <a:t>을 불러오니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6EDC74DE-7A08-45AA-A36C-86712ED62662}"/>
              </a:ext>
            </a:extLst>
          </p:cNvPr>
          <p:cNvSpPr/>
          <p:nvPr/>
        </p:nvSpPr>
        <p:spPr>
          <a:xfrm>
            <a:off x="5069799" y="2304745"/>
            <a:ext cx="323850" cy="193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5F84E6-05F6-4CA0-8807-BEF627A8B00D}"/>
              </a:ext>
            </a:extLst>
          </p:cNvPr>
          <p:cNvSpPr txBox="1"/>
          <p:nvPr/>
        </p:nvSpPr>
        <p:spPr>
          <a:xfrm>
            <a:off x="9410700" y="1751789"/>
            <a:ext cx="252479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ighlight>
                  <a:srgbClr val="FFFF00"/>
                </a:highlight>
              </a:rPr>
              <a:t>ISSUE </a:t>
            </a:r>
            <a:r>
              <a:rPr lang="ko-KR" altLang="en-US" sz="1200" dirty="0">
                <a:highlight>
                  <a:srgbClr val="FFFF00"/>
                </a:highlight>
              </a:rPr>
              <a:t>발생 </a:t>
            </a:r>
            <a:r>
              <a:rPr lang="en-US" altLang="ko-KR" sz="1200" dirty="0">
                <a:highlight>
                  <a:srgbClr val="FFFF00"/>
                </a:highlight>
              </a:rPr>
              <a:t>: </a:t>
            </a:r>
          </a:p>
          <a:p>
            <a:r>
              <a:rPr lang="ko-KR" altLang="en-US" sz="1200" dirty="0">
                <a:highlight>
                  <a:srgbClr val="FFFF00"/>
                </a:highlight>
              </a:rPr>
              <a:t>원본 </a:t>
            </a:r>
            <a:r>
              <a:rPr lang="en-US" altLang="ko-KR" sz="1200" dirty="0">
                <a:highlight>
                  <a:srgbClr val="FFFF00"/>
                </a:highlight>
              </a:rPr>
              <a:t>Excel</a:t>
            </a:r>
            <a:r>
              <a:rPr lang="ko-KR" altLang="en-US" sz="1200" dirty="0">
                <a:highlight>
                  <a:srgbClr val="FFFF00"/>
                </a:highlight>
              </a:rPr>
              <a:t> 상단의 설명 행으로 인해</a:t>
            </a:r>
            <a:endParaRPr lang="en-US" altLang="ko-KR" sz="1200" dirty="0">
              <a:highlight>
                <a:srgbClr val="FFFF00"/>
              </a:highlight>
            </a:endParaRPr>
          </a:p>
          <a:p>
            <a:r>
              <a:rPr lang="ko-KR" altLang="en-US" sz="1200" dirty="0">
                <a:highlight>
                  <a:srgbClr val="FFFF00"/>
                </a:highlight>
              </a:rPr>
              <a:t>컬럼이 정상적으로 인식되지 않음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A5A76AA-3A0A-4E34-882F-A7856A2881A8}"/>
              </a:ext>
            </a:extLst>
          </p:cNvPr>
          <p:cNvSpPr/>
          <p:nvPr/>
        </p:nvSpPr>
        <p:spPr>
          <a:xfrm>
            <a:off x="5401777" y="1781750"/>
            <a:ext cx="3923198" cy="2926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860A8C-FBD8-4959-BBD1-75FEE8F17D94}"/>
              </a:ext>
            </a:extLst>
          </p:cNvPr>
          <p:cNvSpPr txBox="1"/>
          <p:nvPr/>
        </p:nvSpPr>
        <p:spPr>
          <a:xfrm>
            <a:off x="1571890" y="3581305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ighlight>
                  <a:srgbClr val="FFFF00"/>
                </a:highlight>
              </a:rPr>
              <a:t>CLEANING : </a:t>
            </a:r>
          </a:p>
          <a:p>
            <a:r>
              <a:rPr lang="ko-KR" altLang="en-US" sz="1200" dirty="0">
                <a:highlight>
                  <a:srgbClr val="FFFF00"/>
                </a:highlight>
              </a:rPr>
              <a:t>실제 컬럼명이 위치한 행을 헤더로 지정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392B802-75CC-464B-A3A5-314F4D56D737}"/>
              </a:ext>
            </a:extLst>
          </p:cNvPr>
          <p:cNvSpPr/>
          <p:nvPr/>
        </p:nvSpPr>
        <p:spPr>
          <a:xfrm>
            <a:off x="746546" y="3565313"/>
            <a:ext cx="739354" cy="2071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24C44DC-8CF1-4EF4-925E-2F3226813E85}"/>
              </a:ext>
            </a:extLst>
          </p:cNvPr>
          <p:cNvSpPr/>
          <p:nvPr/>
        </p:nvSpPr>
        <p:spPr>
          <a:xfrm>
            <a:off x="2261021" y="4480752"/>
            <a:ext cx="2606254" cy="2466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7602E0-3E42-41F9-B7F3-6AA8168B5502}"/>
              </a:ext>
            </a:extLst>
          </p:cNvPr>
          <p:cNvSpPr txBox="1"/>
          <p:nvPr/>
        </p:nvSpPr>
        <p:spPr>
          <a:xfrm>
            <a:off x="2261021" y="4790697"/>
            <a:ext cx="2704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불필요한 첫 행 제거 후 인덱스 재정렬</a:t>
            </a:r>
            <a:endParaRPr lang="en-US" altLang="ko-KR" sz="1200" dirty="0">
              <a:highlight>
                <a:srgbClr val="FFFF00"/>
              </a:highlight>
            </a:endParaRPr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D9C9ADDF-D3E6-4083-A918-B344B9C5FC44}"/>
              </a:ext>
            </a:extLst>
          </p:cNvPr>
          <p:cNvSpPr/>
          <p:nvPr/>
        </p:nvSpPr>
        <p:spPr>
          <a:xfrm>
            <a:off x="5069799" y="4243531"/>
            <a:ext cx="323850" cy="193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7E4DA240-32E8-44F9-90B9-78B47AFAD1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091" b="58656"/>
          <a:stretch/>
        </p:blipFill>
        <p:spPr>
          <a:xfrm>
            <a:off x="522006" y="5810070"/>
            <a:ext cx="1276728" cy="36235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9A54823-3225-4CBA-949C-6C738C68FB9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2092"/>
          <a:stretch/>
        </p:blipFill>
        <p:spPr>
          <a:xfrm>
            <a:off x="1914761" y="5812323"/>
            <a:ext cx="1345900" cy="360097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4547B718-3B18-47FE-A230-C4378F5C6B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4982" y="5817508"/>
            <a:ext cx="2006441" cy="352474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682B974E-46A8-41D2-9BD8-9F8BE3C6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5744" y="5817466"/>
            <a:ext cx="2264561" cy="36200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7B8885B7-5109-4490-B902-9C83257B8B7A}"/>
              </a:ext>
            </a:extLst>
          </p:cNvPr>
          <p:cNvSpPr txBox="1"/>
          <p:nvPr/>
        </p:nvSpPr>
        <p:spPr>
          <a:xfrm>
            <a:off x="1299469" y="5486300"/>
            <a:ext cx="5423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데이터 크기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자료형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 err="1">
                <a:highlight>
                  <a:srgbClr val="FFFF00"/>
                </a:highlight>
              </a:rPr>
              <a:t>결측치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중복 여부를 확인하여 분석 가능한 상태인지 검증</a:t>
            </a:r>
            <a:endParaRPr lang="en-US" altLang="ko-KR" sz="1200" dirty="0">
              <a:highlight>
                <a:srgbClr val="FFFF00"/>
              </a:highlight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8563270" y="4886050"/>
            <a:ext cx="2564258" cy="1554631"/>
            <a:chOff x="8281721" y="4886050"/>
            <a:chExt cx="3330939" cy="1554631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3697F71C-8FD9-42F2-B893-17313146FD4A}"/>
                </a:ext>
              </a:extLst>
            </p:cNvPr>
            <p:cNvGrpSpPr/>
            <p:nvPr/>
          </p:nvGrpSpPr>
          <p:grpSpPr>
            <a:xfrm>
              <a:off x="8281721" y="4886050"/>
              <a:ext cx="3330939" cy="1554631"/>
              <a:chOff x="7982964" y="2532442"/>
              <a:chExt cx="3951390" cy="1695576"/>
            </a:xfrm>
          </p:grpSpPr>
          <p:sp>
            <p:nvSpPr>
              <p:cNvPr id="70" name="Rounded Rectangle 15">
                <a:extLst>
                  <a:ext uri="{FF2B5EF4-FFF2-40B4-BE49-F238E27FC236}">
                    <a16:creationId xmlns:a16="http://schemas.microsoft.com/office/drawing/2014/main" id="{DD309F27-6302-4D5A-8CA1-668C1AA7E6FC}"/>
                  </a:ext>
                </a:extLst>
              </p:cNvPr>
              <p:cNvSpPr/>
              <p:nvPr/>
            </p:nvSpPr>
            <p:spPr>
              <a:xfrm>
                <a:off x="7982964" y="2532442"/>
                <a:ext cx="3499559" cy="16955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ADD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0DB9558-8C5F-4319-BAB0-B1B00DCC1E16}"/>
                  </a:ext>
                </a:extLst>
              </p:cNvPr>
              <p:cNvSpPr txBox="1"/>
              <p:nvPr/>
            </p:nvSpPr>
            <p:spPr>
              <a:xfrm>
                <a:off x="8733953" y="2707240"/>
                <a:ext cx="3200401" cy="33568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5C52FF"/>
                    </a:solidFill>
                    <a:latin typeface="Aptos"/>
                  </a:rPr>
                  <a:t>2,078 × 18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AE56A73-B68D-47E6-9DB8-F8F1262F4B1B}"/>
                </a:ext>
              </a:extLst>
            </p:cNvPr>
            <p:cNvSpPr txBox="1"/>
            <p:nvPr/>
          </p:nvSpPr>
          <p:spPr>
            <a:xfrm>
              <a:off x="8911781" y="5364024"/>
              <a:ext cx="1126905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ko-KR" altLang="en-US" sz="1200" b="1" dirty="0" err="1">
                  <a:solidFill>
                    <a:srgbClr val="5C52FF"/>
                  </a:solidFill>
                  <a:latin typeface="Aptos"/>
                </a:rPr>
                <a:t>결측치</a:t>
              </a:r>
              <a:r>
                <a:rPr lang="ko-KR" altLang="en-US" sz="1200" b="1" dirty="0">
                  <a:solidFill>
                    <a:srgbClr val="5C52FF"/>
                  </a:solidFill>
                  <a:latin typeface="Aptos"/>
                </a:rPr>
                <a:t> </a:t>
              </a:r>
              <a:r>
                <a:rPr lang="en-US" altLang="ko-KR" sz="1200" b="1" dirty="0">
                  <a:solidFill>
                    <a:srgbClr val="5C52FF"/>
                  </a:solidFill>
                  <a:latin typeface="Aptos"/>
                </a:rPr>
                <a:t>0</a:t>
              </a:r>
              <a:endParaRPr sz="1200" b="1" dirty="0">
                <a:solidFill>
                  <a:srgbClr val="5C52FF"/>
                </a:solidFill>
                <a:latin typeface="Apto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63C04C4-ECC1-4681-BDDE-9C60E208770D}"/>
                </a:ext>
              </a:extLst>
            </p:cNvPr>
            <p:cNvSpPr txBox="1"/>
            <p:nvPr/>
          </p:nvSpPr>
          <p:spPr>
            <a:xfrm>
              <a:off x="8918130" y="5654017"/>
              <a:ext cx="974056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ko-KR" altLang="en-US" sz="1200" b="1" dirty="0">
                  <a:solidFill>
                    <a:srgbClr val="5C52FF"/>
                  </a:solidFill>
                  <a:latin typeface="Aptos"/>
                </a:rPr>
                <a:t>중복 </a:t>
              </a:r>
              <a:r>
                <a:rPr lang="en-US" altLang="ko-KR" sz="1200" b="1" dirty="0">
                  <a:solidFill>
                    <a:srgbClr val="5C52FF"/>
                  </a:solidFill>
                  <a:latin typeface="Aptos"/>
                </a:rPr>
                <a:t>0</a:t>
              </a:r>
              <a:endParaRPr sz="1200" b="1" dirty="0">
                <a:solidFill>
                  <a:srgbClr val="5C52FF"/>
                </a:solidFill>
                <a:latin typeface="Apto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37E6D69-801A-4368-BBF6-7A9891D659DE}"/>
                </a:ext>
              </a:extLst>
            </p:cNvPr>
            <p:cNvSpPr txBox="1"/>
            <p:nvPr/>
          </p:nvSpPr>
          <p:spPr>
            <a:xfrm>
              <a:off x="8911778" y="5944809"/>
              <a:ext cx="1987129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ko-KR" altLang="en-US" sz="1200" b="1" dirty="0">
                  <a:solidFill>
                    <a:srgbClr val="5C52FF"/>
                  </a:solidFill>
                  <a:latin typeface="Aptos"/>
                </a:rPr>
                <a:t>자료형 확인 완료</a:t>
              </a:r>
              <a:endParaRPr sz="1200" b="1" dirty="0">
                <a:solidFill>
                  <a:srgbClr val="5C52FF"/>
                </a:solidFill>
                <a:latin typeface="Aptos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BF0DBD05-B968-4906-B864-311A99073B74}"/>
              </a:ext>
            </a:extLst>
          </p:cNvPr>
          <p:cNvSpPr txBox="1"/>
          <p:nvPr/>
        </p:nvSpPr>
        <p:spPr>
          <a:xfrm>
            <a:off x="8537652" y="4775599"/>
            <a:ext cx="2308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ighlight>
                  <a:srgbClr val="FFFF00"/>
                </a:highlight>
              </a:rPr>
              <a:t> VALIDATION RESULT </a:t>
            </a:r>
            <a:r>
              <a:rPr lang="ko-KR" altLang="en-US" sz="1200" dirty="0" err="1">
                <a:highlight>
                  <a:srgbClr val="FFFF00"/>
                </a:highlight>
              </a:rPr>
              <a:t>전처리</a:t>
            </a:r>
            <a:r>
              <a:rPr lang="ko-KR" altLang="en-US" sz="1200" dirty="0">
                <a:highlight>
                  <a:srgbClr val="FFFF00"/>
                </a:highlight>
              </a:rPr>
              <a:t> 결과</a:t>
            </a:r>
            <a:endParaRPr lang="en-US" altLang="ko-KR" sz="1200" dirty="0">
              <a:highlight>
                <a:srgbClr val="FFFF00"/>
              </a:highlight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448A3DA8-1A12-436E-A854-974004215A2D}"/>
              </a:ext>
            </a:extLst>
          </p:cNvPr>
          <p:cNvCxnSpPr/>
          <p:nvPr/>
        </p:nvCxnSpPr>
        <p:spPr>
          <a:xfrm flipH="1">
            <a:off x="5069799" y="2911202"/>
            <a:ext cx="331978" cy="228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99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02 · CORE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 err="1">
                <a:solidFill>
                  <a:srgbClr val="191B26"/>
                </a:solidFill>
                <a:latin typeface="Aptos"/>
              </a:rPr>
              <a:t>전처리된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 데이터에서 </a:t>
            </a:r>
            <a:r>
              <a:rPr lang="en-US" altLang="ko-KR" sz="2500" b="1" dirty="0">
                <a:solidFill>
                  <a:srgbClr val="191B26"/>
                </a:solidFill>
                <a:latin typeface="Aptos"/>
              </a:rPr>
              <a:t>4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가지 분석</a:t>
            </a:r>
            <a:r>
              <a:rPr lang="en-US" altLang="ko-KR" sz="2500" b="1" dirty="0">
                <a:solidFill>
                  <a:srgbClr val="191B26"/>
                </a:solidFill>
                <a:latin typeface="Aptos"/>
              </a:rPr>
              <a:t> SIGNAL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을 정의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0374" y="1114859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 err="1">
                <a:solidFill>
                  <a:srgbClr val="60667C"/>
                </a:solidFill>
                <a:latin typeface="Aptos"/>
              </a:rPr>
              <a:t>전처리된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 컬럼을 분석 목적에 따라 </a:t>
            </a:r>
            <a:r>
              <a:rPr lang="en-US" altLang="ko-KR" sz="1000" b="0" dirty="0">
                <a:solidFill>
                  <a:srgbClr val="60667C"/>
                </a:solidFill>
                <a:latin typeface="+mn-ea"/>
              </a:rPr>
              <a:t>TV </a:t>
            </a:r>
            <a:r>
              <a:rPr lang="en-US" altLang="ko-KR" sz="1000" dirty="0">
                <a:solidFill>
                  <a:srgbClr val="60667C"/>
                </a:solidFill>
                <a:latin typeface="+mn-ea"/>
              </a:rPr>
              <a:t>· TARGET · DIGITAL · WEEKLY </a:t>
            </a:r>
            <a:r>
              <a:rPr lang="ko-KR" altLang="en-US" sz="1000" dirty="0">
                <a:solidFill>
                  <a:srgbClr val="60667C"/>
                </a:solidFill>
                <a:latin typeface="+mn-ea"/>
              </a:rPr>
              <a:t>네 가지 관점으로 구분</a:t>
            </a:r>
            <a:endParaRPr sz="1000" b="0" dirty="0">
              <a:solidFill>
                <a:srgbClr val="60667C"/>
              </a:solidFill>
              <a:latin typeface="+mn-ea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13B41EA-9033-46B3-BCA8-D212D75F5F58}"/>
              </a:ext>
            </a:extLst>
          </p:cNvPr>
          <p:cNvGrpSpPr/>
          <p:nvPr/>
        </p:nvGrpSpPr>
        <p:grpSpPr>
          <a:xfrm>
            <a:off x="6261662" y="2031968"/>
            <a:ext cx="3299919" cy="1440912"/>
            <a:chOff x="320040" y="1691640"/>
            <a:chExt cx="3299919" cy="1440912"/>
          </a:xfrm>
        </p:grpSpPr>
        <p:sp>
          <p:nvSpPr>
            <p:cNvPr id="5" name="Rounded Rectangle 4"/>
            <p:cNvSpPr/>
            <p:nvPr/>
          </p:nvSpPr>
          <p:spPr>
            <a:xfrm>
              <a:off x="320040" y="1691640"/>
              <a:ext cx="2374777" cy="14409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DD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21207" y="1892808"/>
              <a:ext cx="1115568" cy="274320"/>
            </a:xfrm>
            <a:prstGeom prst="roundRect">
              <a:avLst/>
            </a:prstGeom>
            <a:solidFill>
              <a:srgbClr val="EAF1FF"/>
            </a:solidFill>
            <a:ln>
              <a:solidFill>
                <a:srgbClr val="EAF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1207" y="1929384"/>
              <a:ext cx="1115568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 dirty="0">
                  <a:solidFill>
                    <a:srgbClr val="3069EE"/>
                  </a:solidFill>
                  <a:latin typeface="Aptos"/>
                </a:rPr>
                <a:t>TV SIGNAL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6719" y="2350008"/>
              <a:ext cx="306324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930" b="1" dirty="0" err="1">
                  <a:solidFill>
                    <a:srgbClr val="191B26"/>
                  </a:solidFill>
                  <a:latin typeface="Aptos"/>
                </a:rPr>
                <a:t>가구</a:t>
              </a:r>
              <a:r>
                <a:rPr sz="930" b="1" dirty="0">
                  <a:solidFill>
                    <a:srgbClr val="191B26"/>
                  </a:solidFill>
                  <a:latin typeface="Aptos"/>
                </a:rPr>
                <a:t> </a:t>
              </a:r>
              <a:r>
                <a:rPr sz="930" b="1" dirty="0" err="1">
                  <a:solidFill>
                    <a:srgbClr val="191B26"/>
                  </a:solidFill>
                  <a:latin typeface="Aptos"/>
                </a:rPr>
                <a:t>시청률</a:t>
              </a:r>
              <a:r>
                <a:rPr sz="930" b="1" dirty="0">
                  <a:solidFill>
                    <a:srgbClr val="191B26"/>
                  </a:solidFill>
                  <a:latin typeface="Aptos"/>
                </a:rPr>
                <a:t> · 2049 </a:t>
              </a:r>
              <a:r>
                <a:rPr sz="930" b="1" dirty="0" err="1">
                  <a:solidFill>
                    <a:srgbClr val="191B26"/>
                  </a:solidFill>
                  <a:latin typeface="Aptos"/>
                </a:rPr>
                <a:t>시청률</a:t>
              </a:r>
              <a:endParaRPr sz="930" b="1" dirty="0">
                <a:solidFill>
                  <a:srgbClr val="191B26"/>
                </a:solidFill>
                <a:latin typeface="Apto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56719" y="2660904"/>
              <a:ext cx="306324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19" b="0">
                  <a:solidFill>
                    <a:srgbClr val="60667C"/>
                  </a:solidFill>
                  <a:latin typeface="Aptos"/>
                </a:rPr>
                <a:t>TV에서 얼마나 시청되었는가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91B1F1D-E3DB-4071-91AA-5A1053A36DE7}"/>
              </a:ext>
            </a:extLst>
          </p:cNvPr>
          <p:cNvGrpSpPr/>
          <p:nvPr/>
        </p:nvGrpSpPr>
        <p:grpSpPr>
          <a:xfrm>
            <a:off x="8986509" y="2031968"/>
            <a:ext cx="3264408" cy="1440912"/>
            <a:chOff x="4114800" y="1691640"/>
            <a:chExt cx="3264408" cy="1440912"/>
          </a:xfrm>
        </p:grpSpPr>
        <p:sp>
          <p:nvSpPr>
            <p:cNvPr id="11" name="Rounded Rectangle 10"/>
            <p:cNvSpPr/>
            <p:nvPr/>
          </p:nvSpPr>
          <p:spPr>
            <a:xfrm>
              <a:off x="4114800" y="1691640"/>
              <a:ext cx="2374777" cy="14409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DD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315968" y="1892808"/>
              <a:ext cx="1115568" cy="274320"/>
            </a:xfrm>
            <a:prstGeom prst="roundRect">
              <a:avLst/>
            </a:prstGeom>
            <a:solidFill>
              <a:srgbClr val="FFEBF3"/>
            </a:solidFill>
            <a:ln>
              <a:solidFill>
                <a:srgbClr val="FFEB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15968" y="1929384"/>
              <a:ext cx="1115568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 dirty="0">
                  <a:solidFill>
                    <a:srgbClr val="EF4282"/>
                  </a:solidFill>
                  <a:latin typeface="Aptos"/>
                </a:rPr>
                <a:t>TARGET SIGNAL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15968" y="2350008"/>
              <a:ext cx="306324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930" b="1">
                  <a:solidFill>
                    <a:srgbClr val="191B26"/>
                  </a:solidFill>
                  <a:latin typeface="Aptos"/>
                </a:rPr>
                <a:t>성별 · 10·20·30·40·50대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15968" y="2660904"/>
              <a:ext cx="306324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어떤</a:t>
              </a:r>
              <a:r>
                <a:rPr sz="819" b="0" dirty="0">
                  <a:solidFill>
                    <a:srgbClr val="60667C"/>
                  </a:solidFill>
                  <a:latin typeface="Aptos"/>
                </a:rPr>
                <a:t> </a:t>
              </a:r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시청자층에서</a:t>
              </a:r>
              <a:r>
                <a:rPr sz="819" b="0" dirty="0">
                  <a:solidFill>
                    <a:srgbClr val="60667C"/>
                  </a:solidFill>
                  <a:latin typeface="Aptos"/>
                </a:rPr>
                <a:t> </a:t>
              </a:r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상대적으로</a:t>
              </a:r>
              <a:r>
                <a:rPr sz="819" b="0" dirty="0">
                  <a:solidFill>
                    <a:srgbClr val="60667C"/>
                  </a:solidFill>
                  <a:latin typeface="Aptos"/>
                </a:rPr>
                <a:t> </a:t>
              </a:r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강한가</a:t>
              </a:r>
              <a:endParaRPr sz="819" b="0" dirty="0">
                <a:solidFill>
                  <a:srgbClr val="60667C"/>
                </a:solidFill>
                <a:latin typeface="Aptos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1E83A0A-2D60-44BC-A875-6EE2C9298B3E}"/>
              </a:ext>
            </a:extLst>
          </p:cNvPr>
          <p:cNvGrpSpPr/>
          <p:nvPr/>
        </p:nvGrpSpPr>
        <p:grpSpPr>
          <a:xfrm>
            <a:off x="3482936" y="2031968"/>
            <a:ext cx="3264407" cy="1440912"/>
            <a:chOff x="320040" y="3566160"/>
            <a:chExt cx="3264407" cy="1440912"/>
          </a:xfrm>
        </p:grpSpPr>
        <p:sp>
          <p:nvSpPr>
            <p:cNvPr id="17" name="Rounded Rectangle 16"/>
            <p:cNvSpPr/>
            <p:nvPr/>
          </p:nvSpPr>
          <p:spPr>
            <a:xfrm>
              <a:off x="320040" y="3566160"/>
              <a:ext cx="2485304" cy="14409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DD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7" y="3767328"/>
              <a:ext cx="1115568" cy="274320"/>
            </a:xfrm>
            <a:prstGeom prst="roundRect">
              <a:avLst/>
            </a:prstGeom>
            <a:solidFill>
              <a:srgbClr val="EFEDFF"/>
            </a:solidFill>
            <a:ln>
              <a:solidFill>
                <a:srgbClr val="EFED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1207" y="3803904"/>
              <a:ext cx="1115568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 dirty="0">
                  <a:solidFill>
                    <a:srgbClr val="5C52FF"/>
                  </a:solidFill>
                  <a:latin typeface="Aptos"/>
                </a:rPr>
                <a:t>DIGITAL SIGNAL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1207" y="4224528"/>
              <a:ext cx="306324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930" b="1">
                  <a:solidFill>
                    <a:srgbClr val="191B26"/>
                  </a:solidFill>
                  <a:latin typeface="Aptos"/>
                </a:rPr>
                <a:t>게시글 · 댓글 · 동영상 조회 · 뉴스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1207" y="4535424"/>
              <a:ext cx="306324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방송</a:t>
              </a:r>
              <a:r>
                <a:rPr sz="819" b="0" dirty="0">
                  <a:solidFill>
                    <a:srgbClr val="60667C"/>
                  </a:solidFill>
                  <a:latin typeface="Aptos"/>
                </a:rPr>
                <a:t> </a:t>
              </a:r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밖에서</a:t>
              </a:r>
              <a:r>
                <a:rPr sz="819" b="0" dirty="0">
                  <a:solidFill>
                    <a:srgbClr val="60667C"/>
                  </a:solidFill>
                  <a:latin typeface="Aptos"/>
                </a:rPr>
                <a:t> </a:t>
              </a:r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얼마나</a:t>
              </a:r>
              <a:r>
                <a:rPr sz="819" b="0" dirty="0">
                  <a:solidFill>
                    <a:srgbClr val="60667C"/>
                  </a:solidFill>
                  <a:latin typeface="Aptos"/>
                </a:rPr>
                <a:t> </a:t>
              </a:r>
              <a:r>
                <a:rPr sz="819" b="0" dirty="0" err="1">
                  <a:solidFill>
                    <a:srgbClr val="60667C"/>
                  </a:solidFill>
                  <a:latin typeface="Aptos"/>
                </a:rPr>
                <a:t>반응했는가</a:t>
              </a:r>
              <a:endParaRPr sz="819" b="0" dirty="0">
                <a:solidFill>
                  <a:srgbClr val="60667C"/>
                </a:solidFill>
                <a:latin typeface="Apto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9C54483-3726-4327-A025-A5B13DC69671}"/>
              </a:ext>
            </a:extLst>
          </p:cNvPr>
          <p:cNvGrpSpPr/>
          <p:nvPr/>
        </p:nvGrpSpPr>
        <p:grpSpPr>
          <a:xfrm>
            <a:off x="647562" y="2050959"/>
            <a:ext cx="3264408" cy="1440912"/>
            <a:chOff x="4114800" y="3566160"/>
            <a:chExt cx="3264408" cy="1440912"/>
          </a:xfrm>
        </p:grpSpPr>
        <p:sp>
          <p:nvSpPr>
            <p:cNvPr id="23" name="Rounded Rectangle 22"/>
            <p:cNvSpPr/>
            <p:nvPr/>
          </p:nvSpPr>
          <p:spPr>
            <a:xfrm>
              <a:off x="4114800" y="3566160"/>
              <a:ext cx="2485304" cy="14409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DD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315968" y="3767328"/>
              <a:ext cx="1115568" cy="274320"/>
            </a:xfrm>
            <a:prstGeom prst="roundRect">
              <a:avLst/>
            </a:prstGeom>
            <a:solidFill>
              <a:srgbClr val="E8F8F1"/>
            </a:solidFill>
            <a:ln>
              <a:solidFill>
                <a:srgbClr val="E8F8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15968" y="3803904"/>
              <a:ext cx="1115568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800" b="1" dirty="0">
                  <a:solidFill>
                    <a:srgbClr val="20A56F"/>
                  </a:solidFill>
                  <a:latin typeface="Aptos"/>
                </a:rPr>
                <a:t>WEEKLY SIGNAL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15968" y="4224528"/>
              <a:ext cx="306324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930" b="1">
                  <a:solidFill>
                    <a:srgbClr val="191B26"/>
                  </a:solidFill>
                  <a:latin typeface="Aptos"/>
                </a:rPr>
                <a:t>주차별 시청률 · 온라인 반응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15968" y="4535424"/>
              <a:ext cx="306324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19" b="0">
                  <a:solidFill>
                    <a:srgbClr val="60667C"/>
                  </a:solidFill>
                  <a:latin typeface="Aptos"/>
                </a:rPr>
                <a:t>시간에 따라 신호가 어떻게 변하는가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08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169D4942-C9FA-4458-9368-3465075A89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3964"/>
          <a:stretch/>
        </p:blipFill>
        <p:spPr>
          <a:xfrm>
            <a:off x="556720" y="4172928"/>
            <a:ext cx="506856" cy="178151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3832895" y="6302986"/>
            <a:ext cx="4803544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1" dirty="0">
                <a:solidFill>
                  <a:srgbClr val="60667C"/>
                </a:solidFill>
                <a:latin typeface="Aptos"/>
              </a:rPr>
              <a:t>SIGNAL</a:t>
            </a:r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은 새로운 데이터가 아니라</a:t>
            </a:r>
            <a:r>
              <a:rPr lang="en-US" altLang="ko-KR" sz="850" b="1" dirty="0">
                <a:solidFill>
                  <a:srgbClr val="60667C"/>
                </a:solidFill>
                <a:latin typeface="Aptos"/>
              </a:rPr>
              <a:t>, </a:t>
            </a:r>
            <a:r>
              <a:rPr lang="ko-KR" altLang="en-US" sz="850" b="1" dirty="0" err="1">
                <a:solidFill>
                  <a:srgbClr val="60667C"/>
                </a:solidFill>
                <a:latin typeface="Aptos"/>
              </a:rPr>
              <a:t>전처리된</a:t>
            </a:r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 실제 컬럼을 분석 목적에 맞게 묶어 해석한 기준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60" name="Rounded Rectangle 5">
            <a:extLst>
              <a:ext uri="{FF2B5EF4-FFF2-40B4-BE49-F238E27FC236}">
                <a16:creationId xmlns:a16="http://schemas.microsoft.com/office/drawing/2014/main" id="{0B4C1D18-3BA7-4049-8893-A431DB812D92}"/>
              </a:ext>
            </a:extLst>
          </p:cNvPr>
          <p:cNvSpPr/>
          <p:nvPr/>
        </p:nvSpPr>
        <p:spPr>
          <a:xfrm>
            <a:off x="544419" y="1657201"/>
            <a:ext cx="1129538" cy="274320"/>
          </a:xfrm>
          <a:prstGeom prst="roundRect">
            <a:avLst/>
          </a:prstGeom>
          <a:solidFill>
            <a:srgbClr val="272841"/>
          </a:solidFill>
          <a:ln>
            <a:solidFill>
              <a:srgbClr val="27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B3934F-9F6F-40CF-A351-48BA2372A276}"/>
              </a:ext>
            </a:extLst>
          </p:cNvPr>
          <p:cNvSpPr txBox="1"/>
          <p:nvPr/>
        </p:nvSpPr>
        <p:spPr>
          <a:xfrm>
            <a:off x="544419" y="1700437"/>
            <a:ext cx="1129538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A9A0FF"/>
                </a:solidFill>
                <a:latin typeface="Aptos"/>
              </a:rPr>
              <a:t>핵심 데이터</a:t>
            </a:r>
            <a:endParaRPr sz="800" b="1" dirty="0">
              <a:solidFill>
                <a:srgbClr val="A9A0FF"/>
              </a:solidFill>
              <a:latin typeface="Aptos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AA5A975D-A637-42EC-A8F7-E670AC86A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2" r="82818"/>
          <a:stretch/>
        </p:blipFill>
        <p:spPr>
          <a:xfrm>
            <a:off x="7077330" y="4207135"/>
            <a:ext cx="1580104" cy="163338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8BF8E0D2-83A9-45B8-A748-1F863D9C1F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932" t="4823"/>
          <a:stretch/>
        </p:blipFill>
        <p:spPr>
          <a:xfrm>
            <a:off x="8309933" y="4205900"/>
            <a:ext cx="3063241" cy="1642620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FD1E15B4-0F0A-42E9-8CE5-4444F4DF36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52"/>
          <a:stretch/>
        </p:blipFill>
        <p:spPr>
          <a:xfrm>
            <a:off x="1063576" y="4172928"/>
            <a:ext cx="5538639" cy="1781515"/>
          </a:xfrm>
          <a:prstGeom prst="rect">
            <a:avLst/>
          </a:prstGeom>
        </p:spPr>
      </p:pic>
      <p:sp>
        <p:nvSpPr>
          <p:cNvPr id="64" name="Rounded Rectangle 17">
            <a:extLst>
              <a:ext uri="{FF2B5EF4-FFF2-40B4-BE49-F238E27FC236}">
                <a16:creationId xmlns:a16="http://schemas.microsoft.com/office/drawing/2014/main" id="{87462DC1-DAC2-405B-8535-FA0E109666CE}"/>
              </a:ext>
            </a:extLst>
          </p:cNvPr>
          <p:cNvSpPr/>
          <p:nvPr/>
        </p:nvSpPr>
        <p:spPr>
          <a:xfrm>
            <a:off x="1117298" y="4016158"/>
            <a:ext cx="3682623" cy="2114464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9FA537B2-E2D2-45FF-B099-BEE12B9EB7F1}"/>
              </a:ext>
            </a:extLst>
          </p:cNvPr>
          <p:cNvSpPr/>
          <p:nvPr/>
        </p:nvSpPr>
        <p:spPr>
          <a:xfrm>
            <a:off x="4850721" y="4027909"/>
            <a:ext cx="1830032" cy="2054871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11">
            <a:extLst>
              <a:ext uri="{FF2B5EF4-FFF2-40B4-BE49-F238E27FC236}">
                <a16:creationId xmlns:a16="http://schemas.microsoft.com/office/drawing/2014/main" id="{F6ED1249-569B-4B05-88B1-90E8F7BC492E}"/>
              </a:ext>
            </a:extLst>
          </p:cNvPr>
          <p:cNvSpPr/>
          <p:nvPr/>
        </p:nvSpPr>
        <p:spPr>
          <a:xfrm>
            <a:off x="8293288" y="4102959"/>
            <a:ext cx="3229793" cy="1851483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6F5D3C-8B7B-4613-AA57-7E0FF1DA6EE3}"/>
              </a:ext>
            </a:extLst>
          </p:cNvPr>
          <p:cNvSpPr txBox="1"/>
          <p:nvPr/>
        </p:nvSpPr>
        <p:spPr>
          <a:xfrm>
            <a:off x="29332" y="6112696"/>
            <a:ext cx="1580103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30" b="0" dirty="0">
                <a:solidFill>
                  <a:srgbClr val="64687A"/>
                </a:solidFill>
                <a:latin typeface="Aptos"/>
              </a:rPr>
              <a:t>인터넷반응</a:t>
            </a:r>
            <a:r>
              <a:rPr lang="en-US" altLang="ko-KR" sz="830" b="0" dirty="0">
                <a:solidFill>
                  <a:srgbClr val="64687A"/>
                </a:solidFill>
                <a:latin typeface="Aptos"/>
              </a:rPr>
              <a:t>DB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5B71B5-B1AC-4B55-A613-901AA9536F2A}"/>
              </a:ext>
            </a:extLst>
          </p:cNvPr>
          <p:cNvSpPr txBox="1"/>
          <p:nvPr/>
        </p:nvSpPr>
        <p:spPr>
          <a:xfrm>
            <a:off x="6551229" y="3979238"/>
            <a:ext cx="1580103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30" dirty="0">
                <a:solidFill>
                  <a:srgbClr val="64687A"/>
                </a:solidFill>
                <a:latin typeface="Aptos"/>
              </a:rPr>
              <a:t>종합</a:t>
            </a:r>
            <a:r>
              <a:rPr lang="ko-KR" altLang="en-US" sz="830" b="0" dirty="0">
                <a:solidFill>
                  <a:srgbClr val="64687A"/>
                </a:solidFill>
                <a:latin typeface="Aptos"/>
              </a:rPr>
              <a:t>반응</a:t>
            </a:r>
            <a:r>
              <a:rPr lang="en-US" altLang="ko-KR" sz="830" b="0" dirty="0">
                <a:solidFill>
                  <a:srgbClr val="64687A"/>
                </a:solidFill>
                <a:latin typeface="Aptos"/>
              </a:rPr>
              <a:t>DB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7C4470-86E2-48D4-AD95-B4B44BEA118E}"/>
              </a:ext>
            </a:extLst>
          </p:cNvPr>
          <p:cNvSpPr txBox="1"/>
          <p:nvPr/>
        </p:nvSpPr>
        <p:spPr>
          <a:xfrm>
            <a:off x="200102" y="3817277"/>
            <a:ext cx="1115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20A56F"/>
                </a:solidFill>
                <a:latin typeface="Aptos"/>
              </a:rPr>
              <a:t>WEEKLY SIGNAL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34FA2F-D1AF-4ABE-9CB7-F5E0BA1FEC85}"/>
              </a:ext>
            </a:extLst>
          </p:cNvPr>
          <p:cNvSpPr txBox="1"/>
          <p:nvPr/>
        </p:nvSpPr>
        <p:spPr>
          <a:xfrm>
            <a:off x="2468454" y="3802164"/>
            <a:ext cx="1115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5C52FF"/>
                </a:solidFill>
                <a:latin typeface="Aptos"/>
              </a:rPr>
              <a:t>DIGITAL SIGNAL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10BA9E0-413A-40E8-B662-6BE3ED195D90}"/>
              </a:ext>
            </a:extLst>
          </p:cNvPr>
          <p:cNvSpPr txBox="1"/>
          <p:nvPr/>
        </p:nvSpPr>
        <p:spPr>
          <a:xfrm>
            <a:off x="5212078" y="3817276"/>
            <a:ext cx="1115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3069EE"/>
                </a:solidFill>
                <a:latin typeface="Aptos"/>
              </a:rPr>
              <a:t>TV SIGNAL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551EA5-D105-4824-BFE5-F8EA3DC93902}"/>
              </a:ext>
            </a:extLst>
          </p:cNvPr>
          <p:cNvSpPr txBox="1"/>
          <p:nvPr/>
        </p:nvSpPr>
        <p:spPr>
          <a:xfrm>
            <a:off x="9350400" y="3872212"/>
            <a:ext cx="1115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EF4282"/>
                </a:solidFill>
                <a:latin typeface="Aptos"/>
              </a:rPr>
              <a:t>TARGET SIGNAL</a:t>
            </a:r>
          </a:p>
        </p:txBody>
      </p:sp>
      <p:sp>
        <p:nvSpPr>
          <p:cNvPr id="62" name="Rounded Rectangle 23">
            <a:extLst>
              <a:ext uri="{FF2B5EF4-FFF2-40B4-BE49-F238E27FC236}">
                <a16:creationId xmlns:a16="http://schemas.microsoft.com/office/drawing/2014/main" id="{5939808E-E211-4503-9202-FC4B4F55161D}"/>
              </a:ext>
            </a:extLst>
          </p:cNvPr>
          <p:cNvSpPr/>
          <p:nvPr/>
        </p:nvSpPr>
        <p:spPr>
          <a:xfrm>
            <a:off x="452197" y="4045955"/>
            <a:ext cx="611378" cy="2054870"/>
          </a:xfrm>
          <a:prstGeom prst="round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3">
            <a:extLst>
              <a:ext uri="{FF2B5EF4-FFF2-40B4-BE49-F238E27FC236}">
                <a16:creationId xmlns:a16="http://schemas.microsoft.com/office/drawing/2014/main" id="{9C1D0E18-D0AF-490C-A0E4-D1DAA352348D}"/>
              </a:ext>
            </a:extLst>
          </p:cNvPr>
          <p:cNvSpPr/>
          <p:nvPr/>
        </p:nvSpPr>
        <p:spPr>
          <a:xfrm>
            <a:off x="1388134" y="2279299"/>
            <a:ext cx="6850378" cy="55671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03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 dirty="0">
                <a:solidFill>
                  <a:srgbClr val="191B26"/>
                </a:solidFill>
                <a:latin typeface="Aptos"/>
              </a:rPr>
              <a:t>EDA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에서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무엇을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확인하려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했는가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?</a:t>
            </a:r>
            <a:r>
              <a:rPr lang="en-US" sz="2500" b="1" dirty="0">
                <a:solidFill>
                  <a:srgbClr val="191B26"/>
                </a:solidFill>
                <a:latin typeface="Aptos"/>
              </a:rPr>
              <a:t> 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08401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0" dirty="0">
                <a:solidFill>
                  <a:srgbClr val="60667C"/>
                </a:solidFill>
                <a:latin typeface="Aptos"/>
              </a:rPr>
              <a:t>4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가지 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SIGNA</a:t>
            </a:r>
            <a:r>
              <a:rPr lang="en-US" altLang="ko-KR" sz="1000" dirty="0">
                <a:solidFill>
                  <a:srgbClr val="60667C"/>
                </a:solidFill>
                <a:latin typeface="Aptos"/>
              </a:rPr>
              <a:t>L</a:t>
            </a:r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을 바탕으로 콘텐츠의 관계와 특이점을 확인하기 위한 세 가지 질문을 설정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23313" y="1667230"/>
            <a:ext cx="7315199" cy="527552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670" y="1775650"/>
            <a:ext cx="624881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5C52FF"/>
                </a:solidFill>
                <a:latin typeface="Aptos"/>
              </a:rPr>
              <a:t>Q1</a:t>
            </a:r>
            <a:r>
              <a:rPr lang="en-US" sz="1600" b="1" dirty="0">
                <a:solidFill>
                  <a:srgbClr val="5C52FF"/>
                </a:solidFill>
                <a:latin typeface="Aptos"/>
              </a:rPr>
              <a:t> .  TV </a:t>
            </a:r>
            <a:r>
              <a:rPr lang="ko-KR" altLang="en-US" sz="1600" b="1" dirty="0">
                <a:solidFill>
                  <a:srgbClr val="5C52FF"/>
                </a:solidFill>
                <a:latin typeface="Aptos"/>
              </a:rPr>
              <a:t>시청률과 온라인 반응은 얼마나 관계가 있는가</a:t>
            </a:r>
            <a:r>
              <a:rPr lang="en-US" altLang="ko-KR" sz="1600" b="1" dirty="0">
                <a:solidFill>
                  <a:srgbClr val="5C52FF"/>
                </a:solidFill>
                <a:latin typeface="Aptos"/>
              </a:rPr>
              <a:t>?</a:t>
            </a:r>
            <a:endParaRPr sz="160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09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72FA0FA-2780-43EF-A987-984314779882}"/>
              </a:ext>
            </a:extLst>
          </p:cNvPr>
          <p:cNvGrpSpPr/>
          <p:nvPr/>
        </p:nvGrpSpPr>
        <p:grpSpPr>
          <a:xfrm>
            <a:off x="9261858" y="1743842"/>
            <a:ext cx="1040945" cy="993232"/>
            <a:chOff x="1215390" y="1723709"/>
            <a:chExt cx="837055" cy="274320"/>
          </a:xfrm>
        </p:grpSpPr>
        <p:sp>
          <p:nvSpPr>
            <p:cNvPr id="32" name="Rounded Rectangle 4">
              <a:extLst>
                <a:ext uri="{FF2B5EF4-FFF2-40B4-BE49-F238E27FC236}">
                  <a16:creationId xmlns:a16="http://schemas.microsoft.com/office/drawing/2014/main" id="{F9EE6394-DE9C-4E14-A9A3-7CC066953FF2}"/>
                </a:ext>
              </a:extLst>
            </p:cNvPr>
            <p:cNvSpPr/>
            <p:nvPr/>
          </p:nvSpPr>
          <p:spPr>
            <a:xfrm>
              <a:off x="1215390" y="1723709"/>
              <a:ext cx="837055" cy="274320"/>
            </a:xfrm>
            <a:prstGeom prst="roundRect">
              <a:avLst/>
            </a:prstGeom>
            <a:solidFill>
              <a:srgbClr val="EFEDFF"/>
            </a:solidFill>
            <a:ln>
              <a:solidFill>
                <a:srgbClr val="EFED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7D0DB76-0374-4260-A81A-9D0D081E1BC2}"/>
                </a:ext>
              </a:extLst>
            </p:cNvPr>
            <p:cNvSpPr txBox="1"/>
            <p:nvPr/>
          </p:nvSpPr>
          <p:spPr>
            <a:xfrm>
              <a:off x="1255884" y="1754559"/>
              <a:ext cx="751713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5C52FF"/>
                  </a:solidFill>
                  <a:latin typeface="Aptos"/>
                </a:rPr>
                <a:t>RELATION</a:t>
              </a:r>
              <a:endParaRPr sz="800" b="1" dirty="0">
                <a:solidFill>
                  <a:srgbClr val="5C52FF"/>
                </a:solidFill>
                <a:latin typeface="Apto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02996A0-0DC9-4CF7-9C72-8A3B4C2E5164}"/>
              </a:ext>
            </a:extLst>
          </p:cNvPr>
          <p:cNvSpPr txBox="1"/>
          <p:nvPr/>
        </p:nvSpPr>
        <p:spPr>
          <a:xfrm>
            <a:off x="822605" y="2351390"/>
            <a:ext cx="64749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000" b="1" dirty="0">
                <a:solidFill>
                  <a:srgbClr val="60667C"/>
                </a:solidFill>
                <a:latin typeface="Aptos"/>
              </a:rPr>
              <a:t> -&gt; </a:t>
            </a:r>
            <a:r>
              <a:rPr lang="ko-KR" altLang="en-US" sz="1600" b="1" dirty="0">
                <a:solidFill>
                  <a:srgbClr val="60667C"/>
                </a:solidFill>
                <a:latin typeface="Aptos"/>
              </a:rPr>
              <a:t>시청률과 게시글 </a:t>
            </a:r>
            <a:r>
              <a:rPr lang="en-US" altLang="ko-KR" sz="1600" b="1" dirty="0">
                <a:solidFill>
                  <a:srgbClr val="60667C"/>
                </a:solidFill>
              </a:rPr>
              <a:t>· </a:t>
            </a:r>
            <a:r>
              <a:rPr lang="ko-KR" altLang="en-US" sz="1600" b="1" dirty="0">
                <a:solidFill>
                  <a:srgbClr val="60667C"/>
                </a:solidFill>
              </a:rPr>
              <a:t>댓글 </a:t>
            </a:r>
            <a:r>
              <a:rPr lang="en-US" altLang="ko-KR" sz="1600" b="1" dirty="0">
                <a:solidFill>
                  <a:srgbClr val="60667C"/>
                </a:solidFill>
              </a:rPr>
              <a:t>· </a:t>
            </a:r>
            <a:r>
              <a:rPr lang="ko-KR" altLang="en-US" sz="1600" b="1" dirty="0">
                <a:solidFill>
                  <a:srgbClr val="60667C"/>
                </a:solidFill>
              </a:rPr>
              <a:t>동영상 조회의 상관관계 확인</a:t>
            </a:r>
            <a:endParaRPr sz="160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35" name="Rounded Rectangle 11">
            <a:extLst>
              <a:ext uri="{FF2B5EF4-FFF2-40B4-BE49-F238E27FC236}">
                <a16:creationId xmlns:a16="http://schemas.microsoft.com/office/drawing/2014/main" id="{9B61C4F8-1364-4B16-B9C2-7AD08DB3A448}"/>
              </a:ext>
            </a:extLst>
          </p:cNvPr>
          <p:cNvSpPr/>
          <p:nvPr/>
        </p:nvSpPr>
        <p:spPr>
          <a:xfrm>
            <a:off x="923314" y="3222212"/>
            <a:ext cx="7315198" cy="487673"/>
          </a:xfrm>
          <a:prstGeom prst="roundRect">
            <a:avLst/>
          </a:prstGeom>
          <a:solidFill>
            <a:srgbClr val="FFEBF3"/>
          </a:solidFill>
          <a:ln>
            <a:solidFill>
              <a:srgbClr val="FF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D8244A-F7A7-4DB3-88D0-72B7AA6AA857}"/>
              </a:ext>
            </a:extLst>
          </p:cNvPr>
          <p:cNvSpPr txBox="1"/>
          <p:nvPr/>
        </p:nvSpPr>
        <p:spPr>
          <a:xfrm>
            <a:off x="948027" y="3294348"/>
            <a:ext cx="647494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rgbClr val="EF4282"/>
                </a:solidFill>
                <a:latin typeface="Aptos"/>
              </a:rPr>
              <a:t>Q2 . TV </a:t>
            </a:r>
            <a:r>
              <a:rPr lang="ko-KR" altLang="en-US" sz="1600" b="1" dirty="0">
                <a:solidFill>
                  <a:srgbClr val="EF4282"/>
                </a:solidFill>
                <a:latin typeface="Aptos"/>
              </a:rPr>
              <a:t>성과는 낮지만 </a:t>
            </a:r>
            <a:r>
              <a:rPr lang="en-US" altLang="ko-KR" sz="1600" b="1" dirty="0">
                <a:solidFill>
                  <a:srgbClr val="EF4282"/>
                </a:solidFill>
                <a:latin typeface="Aptos"/>
              </a:rPr>
              <a:t>DIGITAL </a:t>
            </a:r>
            <a:r>
              <a:rPr lang="ko-KR" altLang="en-US" sz="1600" b="1" dirty="0">
                <a:solidFill>
                  <a:srgbClr val="EF4282"/>
                </a:solidFill>
                <a:latin typeface="Aptos"/>
              </a:rPr>
              <a:t>반응이 강한 프로그램이 존재하는가</a:t>
            </a:r>
            <a:r>
              <a:rPr lang="en-US" altLang="ko-KR" sz="1600" b="1" dirty="0">
                <a:solidFill>
                  <a:srgbClr val="EF4282"/>
                </a:solidFill>
                <a:latin typeface="Aptos"/>
              </a:rPr>
              <a:t>?</a:t>
            </a:r>
            <a:endParaRPr lang="en-US" sz="1600" b="1" dirty="0">
              <a:solidFill>
                <a:srgbClr val="EF4282"/>
              </a:solidFill>
              <a:latin typeface="Aptos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78BDCFD-3223-464F-BC98-938B26F43B1F}"/>
              </a:ext>
            </a:extLst>
          </p:cNvPr>
          <p:cNvGrpSpPr/>
          <p:nvPr/>
        </p:nvGrpSpPr>
        <p:grpSpPr>
          <a:xfrm>
            <a:off x="9270818" y="3215940"/>
            <a:ext cx="1031985" cy="1044391"/>
            <a:chOff x="1186815" y="3222212"/>
            <a:chExt cx="1115568" cy="274320"/>
          </a:xfrm>
        </p:grpSpPr>
        <p:sp>
          <p:nvSpPr>
            <p:cNvPr id="37" name="Rounded Rectangle 11">
              <a:extLst>
                <a:ext uri="{FF2B5EF4-FFF2-40B4-BE49-F238E27FC236}">
                  <a16:creationId xmlns:a16="http://schemas.microsoft.com/office/drawing/2014/main" id="{B3BDDF77-A8FF-4198-BE69-B8234AEA9FAA}"/>
                </a:ext>
              </a:extLst>
            </p:cNvPr>
            <p:cNvSpPr/>
            <p:nvPr/>
          </p:nvSpPr>
          <p:spPr>
            <a:xfrm>
              <a:off x="1186815" y="3222212"/>
              <a:ext cx="1115568" cy="274320"/>
            </a:xfrm>
            <a:prstGeom prst="roundRect">
              <a:avLst/>
            </a:prstGeom>
            <a:solidFill>
              <a:srgbClr val="FFEBF3"/>
            </a:solidFill>
            <a:ln>
              <a:solidFill>
                <a:srgbClr val="FFEB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E57D630-36AC-4EAD-8861-766EB7C040E4}"/>
                </a:ext>
              </a:extLst>
            </p:cNvPr>
            <p:cNvSpPr txBox="1"/>
            <p:nvPr/>
          </p:nvSpPr>
          <p:spPr>
            <a:xfrm>
              <a:off x="1186815" y="3252116"/>
              <a:ext cx="1115568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EF4282"/>
                  </a:solidFill>
                  <a:latin typeface="Aptos"/>
                </a:rPr>
                <a:t>HIDDEN</a:t>
              </a:r>
              <a:r>
                <a:rPr sz="800" b="1" dirty="0">
                  <a:solidFill>
                    <a:srgbClr val="EF4282"/>
                  </a:solidFill>
                  <a:latin typeface="Aptos"/>
                </a:rPr>
                <a:t> SIGNAL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9377510-09F2-4B37-B65B-88941D9717D8}"/>
              </a:ext>
            </a:extLst>
          </p:cNvPr>
          <p:cNvGrpSpPr/>
          <p:nvPr/>
        </p:nvGrpSpPr>
        <p:grpSpPr>
          <a:xfrm>
            <a:off x="9261858" y="4686953"/>
            <a:ext cx="1031985" cy="1003138"/>
            <a:chOff x="1186815" y="4911090"/>
            <a:chExt cx="1115568" cy="274320"/>
          </a:xfrm>
        </p:grpSpPr>
        <p:sp>
          <p:nvSpPr>
            <p:cNvPr id="41" name="Rounded Rectangle 23">
              <a:extLst>
                <a:ext uri="{FF2B5EF4-FFF2-40B4-BE49-F238E27FC236}">
                  <a16:creationId xmlns:a16="http://schemas.microsoft.com/office/drawing/2014/main" id="{062B6DEB-7F12-4A7C-AC0B-E47EE6DD783F}"/>
                </a:ext>
              </a:extLst>
            </p:cNvPr>
            <p:cNvSpPr/>
            <p:nvPr/>
          </p:nvSpPr>
          <p:spPr>
            <a:xfrm>
              <a:off x="1186815" y="4911090"/>
              <a:ext cx="1115568" cy="274320"/>
            </a:xfrm>
            <a:prstGeom prst="roundRect">
              <a:avLst/>
            </a:prstGeom>
            <a:solidFill>
              <a:srgbClr val="E8F8F1"/>
            </a:solidFill>
            <a:ln>
              <a:solidFill>
                <a:srgbClr val="E8F8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723BB1E-8943-4FE0-B38D-D35BDC056341}"/>
                </a:ext>
              </a:extLst>
            </p:cNvPr>
            <p:cNvSpPr txBox="1"/>
            <p:nvPr/>
          </p:nvSpPr>
          <p:spPr>
            <a:xfrm>
              <a:off x="1186815" y="4941005"/>
              <a:ext cx="1115568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20A56F"/>
                  </a:solidFill>
                  <a:latin typeface="Aptos"/>
                </a:rPr>
                <a:t>TARGET</a:t>
              </a:r>
              <a:endParaRPr sz="800" b="1" dirty="0">
                <a:solidFill>
                  <a:srgbClr val="20A56F"/>
                </a:solidFill>
                <a:latin typeface="Aptos"/>
              </a:endParaRPr>
            </a:p>
          </p:txBody>
        </p:sp>
      </p:grpSp>
      <p:sp>
        <p:nvSpPr>
          <p:cNvPr id="43" name="Rounded Rectangle 23">
            <a:extLst>
              <a:ext uri="{FF2B5EF4-FFF2-40B4-BE49-F238E27FC236}">
                <a16:creationId xmlns:a16="http://schemas.microsoft.com/office/drawing/2014/main" id="{60106230-D497-4700-BDCF-BAD961E92E88}"/>
              </a:ext>
            </a:extLst>
          </p:cNvPr>
          <p:cNvSpPr/>
          <p:nvPr/>
        </p:nvSpPr>
        <p:spPr>
          <a:xfrm>
            <a:off x="923314" y="4665507"/>
            <a:ext cx="7315198" cy="470235"/>
          </a:xfrm>
          <a:prstGeom prst="roundRect">
            <a:avLst/>
          </a:prstGeom>
          <a:solidFill>
            <a:srgbClr val="E8F8F1"/>
          </a:solidFill>
          <a:ln>
            <a:solidFill>
              <a:srgbClr val="E8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3FF9A0-1CA7-4C38-80F5-6428B665AC72}"/>
              </a:ext>
            </a:extLst>
          </p:cNvPr>
          <p:cNvSpPr txBox="1"/>
          <p:nvPr/>
        </p:nvSpPr>
        <p:spPr>
          <a:xfrm>
            <a:off x="973427" y="4754672"/>
            <a:ext cx="701493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rgbClr val="20A56F"/>
                </a:solidFill>
                <a:latin typeface="Aptos"/>
              </a:rPr>
              <a:t>Q3 . </a:t>
            </a:r>
            <a:r>
              <a:rPr lang="ko-KR" altLang="en-US" sz="1600" b="1" dirty="0">
                <a:solidFill>
                  <a:srgbClr val="20A56F"/>
                </a:solidFill>
                <a:latin typeface="Aptos"/>
              </a:rPr>
              <a:t>연령</a:t>
            </a:r>
            <a:r>
              <a:rPr lang="en-US" altLang="ko-KR" sz="1600" b="1" dirty="0">
                <a:solidFill>
                  <a:srgbClr val="20A56F"/>
                </a:solidFill>
                <a:latin typeface="Aptos"/>
              </a:rPr>
              <a:t>, </a:t>
            </a:r>
            <a:r>
              <a:rPr lang="ko-KR" altLang="en-US" sz="1600" b="1" dirty="0">
                <a:solidFill>
                  <a:srgbClr val="20A56F"/>
                </a:solidFill>
                <a:latin typeface="Aptos"/>
              </a:rPr>
              <a:t>성별에 따라 상대적으로 강한 프로그램이 존재하는가</a:t>
            </a:r>
            <a:r>
              <a:rPr lang="en-US" altLang="ko-KR" sz="1600" b="1" dirty="0">
                <a:solidFill>
                  <a:srgbClr val="20A56F"/>
                </a:solidFill>
                <a:latin typeface="Aptos"/>
              </a:rPr>
              <a:t>?</a:t>
            </a:r>
            <a:endParaRPr sz="1600" b="1" dirty="0">
              <a:solidFill>
                <a:srgbClr val="20A56F"/>
              </a:solidFill>
              <a:latin typeface="Aptos"/>
            </a:endParaRPr>
          </a:p>
        </p:txBody>
      </p:sp>
      <p:sp>
        <p:nvSpPr>
          <p:cNvPr id="57" name="Rounded Rectangle 3">
            <a:extLst>
              <a:ext uri="{FF2B5EF4-FFF2-40B4-BE49-F238E27FC236}">
                <a16:creationId xmlns:a16="http://schemas.microsoft.com/office/drawing/2014/main" id="{6825A28A-80A8-4B5F-B97C-BABBD4CC67E1}"/>
              </a:ext>
            </a:extLst>
          </p:cNvPr>
          <p:cNvSpPr/>
          <p:nvPr/>
        </p:nvSpPr>
        <p:spPr>
          <a:xfrm>
            <a:off x="1388134" y="3794402"/>
            <a:ext cx="6850378" cy="55671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3C6223-BB74-46EF-A17E-58F983704E33}"/>
              </a:ext>
            </a:extLst>
          </p:cNvPr>
          <p:cNvSpPr txBox="1"/>
          <p:nvPr/>
        </p:nvSpPr>
        <p:spPr>
          <a:xfrm>
            <a:off x="734942" y="3866493"/>
            <a:ext cx="64749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000" b="1" dirty="0">
                <a:solidFill>
                  <a:srgbClr val="60667C"/>
                </a:solidFill>
                <a:latin typeface="Aptos"/>
              </a:rPr>
              <a:t> -&gt; </a:t>
            </a:r>
            <a:r>
              <a:rPr lang="ko-KR" altLang="en-US" sz="1600" b="1" dirty="0">
                <a:solidFill>
                  <a:srgbClr val="60667C"/>
                </a:solidFill>
                <a:latin typeface="Aptos"/>
              </a:rPr>
              <a:t>시청률만으로 드러나지 않는 디지털 강세 사례 탐색</a:t>
            </a:r>
            <a:endParaRPr sz="160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60" name="Rounded Rectangle 3">
            <a:extLst>
              <a:ext uri="{FF2B5EF4-FFF2-40B4-BE49-F238E27FC236}">
                <a16:creationId xmlns:a16="http://schemas.microsoft.com/office/drawing/2014/main" id="{3887BAFB-CB7E-416A-BD4B-7290C13BB3A0}"/>
              </a:ext>
            </a:extLst>
          </p:cNvPr>
          <p:cNvSpPr/>
          <p:nvPr/>
        </p:nvSpPr>
        <p:spPr>
          <a:xfrm>
            <a:off x="1388134" y="5220260"/>
            <a:ext cx="6850378" cy="556718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1C7017-4BCC-4FF2-887C-CB538FA1D786}"/>
              </a:ext>
            </a:extLst>
          </p:cNvPr>
          <p:cNvSpPr txBox="1"/>
          <p:nvPr/>
        </p:nvSpPr>
        <p:spPr>
          <a:xfrm>
            <a:off x="1421222" y="5292351"/>
            <a:ext cx="64749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>
                <a:solidFill>
                  <a:srgbClr val="60667C"/>
                </a:solidFill>
                <a:latin typeface="Aptos"/>
              </a:rPr>
              <a:t> -&gt; </a:t>
            </a:r>
            <a:r>
              <a:rPr lang="ko-KR" altLang="en-US" sz="1600" b="1" dirty="0">
                <a:solidFill>
                  <a:srgbClr val="60667C"/>
                </a:solidFill>
                <a:latin typeface="Aptos"/>
              </a:rPr>
              <a:t>전체 성과와 특정 시청자층의 차이 비교</a:t>
            </a:r>
            <a:endParaRPr sz="160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E25D9D-32E5-44D8-9185-60B03563EC8C}"/>
              </a:ext>
            </a:extLst>
          </p:cNvPr>
          <p:cNvSpPr txBox="1"/>
          <p:nvPr/>
        </p:nvSpPr>
        <p:spPr>
          <a:xfrm>
            <a:off x="9357108" y="2080863"/>
            <a:ext cx="85996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5C52FF"/>
                </a:solidFill>
                <a:latin typeface="Aptos"/>
              </a:rPr>
              <a:t>상관관계 분석</a:t>
            </a:r>
            <a:endParaRPr sz="120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327CBB-651B-4818-ACA5-19238D6B9D8B}"/>
              </a:ext>
            </a:extLst>
          </p:cNvPr>
          <p:cNvSpPr txBox="1"/>
          <p:nvPr/>
        </p:nvSpPr>
        <p:spPr>
          <a:xfrm>
            <a:off x="9306308" y="3633800"/>
            <a:ext cx="95311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F4282"/>
                </a:solidFill>
                <a:latin typeface="Aptos"/>
              </a:rPr>
              <a:t>특이사례 탐색</a:t>
            </a:r>
            <a:endParaRPr sz="1200" b="1" dirty="0">
              <a:solidFill>
                <a:srgbClr val="EF4282"/>
              </a:solidFill>
              <a:latin typeface="Apto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94EE28-09F7-41AD-86A7-5528C17DE27C}"/>
              </a:ext>
            </a:extLst>
          </p:cNvPr>
          <p:cNvSpPr txBox="1"/>
          <p:nvPr/>
        </p:nvSpPr>
        <p:spPr>
          <a:xfrm>
            <a:off x="9347081" y="5128774"/>
            <a:ext cx="89221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20A56F"/>
                </a:solidFill>
                <a:latin typeface="Aptos"/>
              </a:rPr>
              <a:t>타깃 비교</a:t>
            </a:r>
            <a:endParaRPr sz="1200" b="1" dirty="0">
              <a:solidFill>
                <a:srgbClr val="20A56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03 · F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INDINGS</a:t>
            </a:r>
            <a:endParaRPr sz="85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3330" y="558502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91B26"/>
                </a:solidFill>
                <a:latin typeface="Aptos"/>
              </a:rPr>
              <a:t>EDA에서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발견한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두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가지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특징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104591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지표 간 관계를 분석한 결과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, TV 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성과와 디지털 반응이 항상 같은 모습으로 나타나지는 않는다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.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62" name="Rounded Rectangle 5">
            <a:extLst>
              <a:ext uri="{FF2B5EF4-FFF2-40B4-BE49-F238E27FC236}">
                <a16:creationId xmlns:a16="http://schemas.microsoft.com/office/drawing/2014/main" id="{DB3AD053-4393-48DB-AE19-28D4F1B0B23C}"/>
              </a:ext>
            </a:extLst>
          </p:cNvPr>
          <p:cNvSpPr/>
          <p:nvPr/>
        </p:nvSpPr>
        <p:spPr>
          <a:xfrm>
            <a:off x="590168" y="1473294"/>
            <a:ext cx="2762631" cy="274320"/>
          </a:xfrm>
          <a:prstGeom prst="roundRect">
            <a:avLst/>
          </a:prstGeom>
          <a:solidFill>
            <a:srgbClr val="272841"/>
          </a:solidFill>
          <a:ln>
            <a:solidFill>
              <a:srgbClr val="27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CC60FE-F0D8-43DC-BAE0-A83C55399B6D}"/>
              </a:ext>
            </a:extLst>
          </p:cNvPr>
          <p:cNvSpPr txBox="1"/>
          <p:nvPr/>
        </p:nvSpPr>
        <p:spPr>
          <a:xfrm>
            <a:off x="590168" y="1516530"/>
            <a:ext cx="2762631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00" b="1" dirty="0">
                <a:solidFill>
                  <a:srgbClr val="A9A0FF"/>
                </a:solidFill>
                <a:latin typeface="Aptos"/>
              </a:rPr>
              <a:t>01. TV</a:t>
            </a:r>
            <a:r>
              <a:rPr lang="ko-KR" altLang="en-US" sz="800" b="1" dirty="0">
                <a:solidFill>
                  <a:srgbClr val="A9A0FF"/>
                </a:solidFill>
                <a:latin typeface="Aptos"/>
              </a:rPr>
              <a:t>와 </a:t>
            </a:r>
            <a:r>
              <a:rPr lang="en-US" altLang="ko-KR" sz="800" b="1" dirty="0">
                <a:solidFill>
                  <a:srgbClr val="A9A0FF"/>
                </a:solidFill>
                <a:latin typeface="Aptos"/>
              </a:rPr>
              <a:t>DIGITAL</a:t>
            </a:r>
            <a:r>
              <a:rPr lang="ko-KR" altLang="en-US" sz="800" b="1" dirty="0">
                <a:solidFill>
                  <a:srgbClr val="A9A0FF"/>
                </a:solidFill>
                <a:latin typeface="Aptos"/>
              </a:rPr>
              <a:t>은 항상 같이 움직이지 않았다</a:t>
            </a:r>
            <a:endParaRPr sz="800" b="1" dirty="0">
              <a:solidFill>
                <a:srgbClr val="A9A0FF"/>
              </a:solidFill>
              <a:latin typeface="Aptos"/>
            </a:endParaRPr>
          </a:p>
        </p:txBody>
      </p: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DB3AD053-4393-48DB-AE19-28D4F1B0B23C}"/>
              </a:ext>
            </a:extLst>
          </p:cNvPr>
          <p:cNvSpPr/>
          <p:nvPr/>
        </p:nvSpPr>
        <p:spPr>
          <a:xfrm>
            <a:off x="6331624" y="1490476"/>
            <a:ext cx="2762631" cy="274320"/>
          </a:xfrm>
          <a:prstGeom prst="roundRect">
            <a:avLst/>
          </a:prstGeom>
          <a:solidFill>
            <a:srgbClr val="272841"/>
          </a:solidFill>
          <a:ln>
            <a:solidFill>
              <a:srgbClr val="27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CC60FE-F0D8-43DC-BAE0-A83C55399B6D}"/>
              </a:ext>
            </a:extLst>
          </p:cNvPr>
          <p:cNvSpPr txBox="1"/>
          <p:nvPr/>
        </p:nvSpPr>
        <p:spPr>
          <a:xfrm>
            <a:off x="6150829" y="1504110"/>
            <a:ext cx="2762631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00" b="1" dirty="0">
                <a:solidFill>
                  <a:srgbClr val="A9A0FF"/>
                </a:solidFill>
                <a:latin typeface="Aptos"/>
              </a:rPr>
              <a:t>02. </a:t>
            </a:r>
            <a:r>
              <a:rPr lang="ko-KR" altLang="en-US" sz="800" b="1" dirty="0">
                <a:solidFill>
                  <a:srgbClr val="A9A0FF"/>
                </a:solidFill>
                <a:latin typeface="Aptos"/>
              </a:rPr>
              <a:t>낮은 </a:t>
            </a:r>
            <a:r>
              <a:rPr lang="en-US" altLang="ko-KR" sz="800" b="1" dirty="0">
                <a:solidFill>
                  <a:srgbClr val="A9A0FF"/>
                </a:solidFill>
                <a:latin typeface="Aptos"/>
              </a:rPr>
              <a:t>TV </a:t>
            </a:r>
            <a:r>
              <a:rPr lang="en-US" altLang="ko-KR" sz="800" dirty="0">
                <a:solidFill>
                  <a:srgbClr val="A9A0FF"/>
                </a:solidFill>
              </a:rPr>
              <a:t>· </a:t>
            </a:r>
            <a:r>
              <a:rPr lang="ko-KR" altLang="en-US" sz="800" b="1" dirty="0">
                <a:solidFill>
                  <a:srgbClr val="A9A0FF"/>
                </a:solidFill>
                <a:latin typeface="Aptos"/>
              </a:rPr>
              <a:t>높은 </a:t>
            </a:r>
            <a:r>
              <a:rPr lang="en-US" altLang="ko-KR" sz="800" b="1" dirty="0">
                <a:solidFill>
                  <a:srgbClr val="A9A0FF"/>
                </a:solidFill>
                <a:latin typeface="Aptos"/>
              </a:rPr>
              <a:t>DIGITAL </a:t>
            </a:r>
            <a:r>
              <a:rPr lang="ko-KR" altLang="en-US" sz="800" b="1" dirty="0">
                <a:solidFill>
                  <a:srgbClr val="A9A0FF"/>
                </a:solidFill>
                <a:latin typeface="Aptos"/>
              </a:rPr>
              <a:t>사례가 존재했다</a:t>
            </a:r>
            <a:r>
              <a:rPr lang="en-US" altLang="ko-KR" sz="800" dirty="0">
                <a:solidFill>
                  <a:srgbClr val="A9A0FF"/>
                </a:solidFill>
              </a:rPr>
              <a:t> </a:t>
            </a:r>
            <a:endParaRPr sz="800" b="1" dirty="0">
              <a:solidFill>
                <a:srgbClr val="A9A0FF"/>
              </a:solidFill>
              <a:latin typeface="Apto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55" y="2470767"/>
            <a:ext cx="5192628" cy="2248821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68" y="1945998"/>
            <a:ext cx="1554324" cy="670266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73" name="TextBox 72"/>
          <p:cNvSpPr txBox="1"/>
          <p:nvPr/>
        </p:nvSpPr>
        <p:spPr>
          <a:xfrm>
            <a:off x="693755" y="4845035"/>
            <a:ext cx="519262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0" dirty="0">
                <a:solidFill>
                  <a:srgbClr val="60667C"/>
                </a:solidFill>
                <a:latin typeface="Aptos"/>
              </a:rPr>
              <a:t>‘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김부장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’ </a:t>
            </a:r>
            <a:r>
              <a:rPr lang="ko-KR" altLang="en-US" sz="1000" b="0" dirty="0" err="1">
                <a:solidFill>
                  <a:srgbClr val="60667C"/>
                </a:solidFill>
                <a:latin typeface="Aptos"/>
              </a:rPr>
              <a:t>주차별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 데이터를 비교한 결과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,</a:t>
            </a:r>
          </a:p>
          <a:p>
            <a:pPr algn="l"/>
            <a:r>
              <a:rPr lang="en-US" sz="1000" dirty="0">
                <a:solidFill>
                  <a:srgbClr val="60667C"/>
                </a:solidFill>
                <a:latin typeface="Aptos"/>
              </a:rPr>
              <a:t>TV </a:t>
            </a:r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시청 지표와 온라인 반응의 변화 시점이 서로 다르게 나타났다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4"/>
          <a:srcRect r="74695"/>
          <a:stretch/>
        </p:blipFill>
        <p:spPr>
          <a:xfrm>
            <a:off x="6501617" y="2947516"/>
            <a:ext cx="1337357" cy="1778425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77" name="TextBox 76"/>
          <p:cNvSpPr txBox="1"/>
          <p:nvPr/>
        </p:nvSpPr>
        <p:spPr>
          <a:xfrm>
            <a:off x="6502616" y="4856942"/>
            <a:ext cx="519262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0" dirty="0">
                <a:solidFill>
                  <a:srgbClr val="60667C"/>
                </a:solidFill>
                <a:latin typeface="Aptos"/>
              </a:rPr>
              <a:t>‘</a:t>
            </a:r>
            <a:r>
              <a:rPr lang="ko-KR" altLang="en-US" sz="1000" b="0" dirty="0" err="1">
                <a:solidFill>
                  <a:srgbClr val="60667C"/>
                </a:solidFill>
                <a:latin typeface="Aptos"/>
              </a:rPr>
              <a:t>스트릿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 월드 파이터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’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를 전체 프로그램과 비교한 결과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,</a:t>
            </a:r>
          </a:p>
          <a:p>
            <a:pPr algn="l"/>
            <a:r>
              <a:rPr lang="en-US" sz="1000" dirty="0">
                <a:solidFill>
                  <a:srgbClr val="60667C"/>
                </a:solidFill>
                <a:latin typeface="Aptos"/>
              </a:rPr>
              <a:t>TV</a:t>
            </a:r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지표는 하위권이지만 디지털 화제성과 댓글 참여는 상위권으로 나타났다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4"/>
          <a:srcRect l="50585"/>
          <a:stretch/>
        </p:blipFill>
        <p:spPr>
          <a:xfrm>
            <a:off x="7849642" y="2941163"/>
            <a:ext cx="2611554" cy="1778425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5"/>
          <a:srcRect t="25462"/>
          <a:stretch/>
        </p:blipFill>
        <p:spPr>
          <a:xfrm>
            <a:off x="6366330" y="2018114"/>
            <a:ext cx="2503632" cy="602071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6"/>
          <a:srcRect r="2351" b="4764"/>
          <a:stretch/>
        </p:blipFill>
        <p:spPr>
          <a:xfrm>
            <a:off x="9054347" y="2072513"/>
            <a:ext cx="2245250" cy="1330079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3499046" y="367045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시청률과 온라인 반응의 </a:t>
            </a:r>
            <a:endParaRPr lang="en-US" altLang="ko-KR" sz="1000" dirty="0">
              <a:highlight>
                <a:srgbClr val="FFFF00"/>
              </a:highlight>
            </a:endParaRPr>
          </a:p>
          <a:p>
            <a:r>
              <a:rPr lang="ko-KR" altLang="en-US" sz="1000" dirty="0">
                <a:highlight>
                  <a:srgbClr val="FFFF00"/>
                </a:highlight>
              </a:rPr>
              <a:t>상승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하락 시점이 서로 다르다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9098930" y="2286865"/>
            <a:ext cx="1908440" cy="5855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/>
          <p:cNvSpPr/>
          <p:nvPr/>
        </p:nvSpPr>
        <p:spPr>
          <a:xfrm>
            <a:off x="6541103" y="3484980"/>
            <a:ext cx="3487859" cy="5855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8327404" y="3046309"/>
            <a:ext cx="2765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낮은 시청률에도 높은 디지털 반응이 나타났다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6577516" y="4257670"/>
            <a:ext cx="1140099" cy="2811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6705570" y="4202173"/>
            <a:ext cx="120930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3069EE"/>
                </a:solidFill>
                <a:latin typeface="Aptos"/>
              </a:rPr>
              <a:t>0.55%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7911507" y="4240806"/>
            <a:ext cx="1140099" cy="2811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7845669" y="4198227"/>
            <a:ext cx="3291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rgbClr val="5C52FF"/>
                </a:solidFill>
                <a:latin typeface="Aptos"/>
              </a:rPr>
              <a:t>상위</a:t>
            </a:r>
            <a:r>
              <a:rPr b="1" dirty="0">
                <a:solidFill>
                  <a:srgbClr val="5C52FF"/>
                </a:solidFill>
                <a:latin typeface="Aptos"/>
              </a:rPr>
              <a:t> 4.8%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9174469" y="4247767"/>
            <a:ext cx="1140099" cy="2811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9153433" y="4182972"/>
            <a:ext cx="3291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rgbClr val="EF4282"/>
                </a:solidFill>
                <a:latin typeface="Aptos"/>
              </a:rPr>
              <a:t>상위</a:t>
            </a:r>
            <a:r>
              <a:rPr b="1" dirty="0">
                <a:solidFill>
                  <a:srgbClr val="EF4282"/>
                </a:solidFill>
                <a:latin typeface="Aptos"/>
              </a:rPr>
              <a:t> 7.5%</a:t>
            </a:r>
          </a:p>
        </p:txBody>
      </p:sp>
      <p:sp>
        <p:nvSpPr>
          <p:cNvPr id="92" name="Rounded Rectangle 18"/>
          <p:cNvSpPr/>
          <p:nvPr/>
        </p:nvSpPr>
        <p:spPr>
          <a:xfrm>
            <a:off x="502920" y="5588238"/>
            <a:ext cx="11018520" cy="640080"/>
          </a:xfrm>
          <a:prstGeom prst="roundRect">
            <a:avLst/>
          </a:prstGeom>
          <a:solidFill>
            <a:srgbClr val="0E1020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77240" y="5798550"/>
            <a:ext cx="104241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이러한 특징을 바탕으로 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TV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TARGET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DIGITAL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WEEKLY 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신호를 함께 비교할 수 있는 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CONTENT SIGNAL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을 구현했다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 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04 · CONTENT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84835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91B26"/>
                </a:solidFill>
                <a:latin typeface="Aptos"/>
              </a:rPr>
              <a:t>기존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프로그램의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여러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신호를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한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화면에서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분석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14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4" y="1839169"/>
            <a:ext cx="2972054" cy="1994775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55" y="1839169"/>
            <a:ext cx="3266312" cy="1994775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68" y="4457967"/>
            <a:ext cx="2933600" cy="1948847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794" y="4457967"/>
            <a:ext cx="3300034" cy="1948847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095" y="2824109"/>
            <a:ext cx="4455665" cy="1799382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47472" y="1224487"/>
            <a:ext cx="12634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ptos"/>
              </a:rPr>
              <a:t>① MULTI SIGNAL</a:t>
            </a:r>
            <a:endParaRPr lang="ko-KR" altLang="en-US" sz="1000" b="1" dirty="0">
              <a:latin typeface="Aptos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596728" y="1311973"/>
            <a:ext cx="136127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ptos"/>
              </a:rPr>
              <a:t>② WEEKLY SIGNAL</a:t>
            </a:r>
            <a:endParaRPr lang="ko-KR" altLang="en-US" sz="1000" b="1" dirty="0">
              <a:latin typeface="Aptos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01390" y="3950753"/>
            <a:ext cx="13660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ptos"/>
              </a:rPr>
              <a:t>③ DIGITAL SIGNAL</a:t>
            </a:r>
            <a:endParaRPr lang="ko-KR" altLang="en-US" sz="1000" b="1" dirty="0">
              <a:latin typeface="Aptos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584028" y="3963669"/>
            <a:ext cx="13532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/>
              <a:t>④ COMMENT SIGNAL</a:t>
            </a:r>
            <a:endParaRPr lang="ko-KR" altLang="en-US" sz="1000" b="1" dirty="0"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401390" y="1411733"/>
            <a:ext cx="2510578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50" b="1" dirty="0">
                <a:solidFill>
                  <a:srgbClr val="60667C"/>
                </a:solidFill>
                <a:latin typeface="Aptos"/>
              </a:rPr>
              <a:t>TV</a:t>
            </a:r>
            <a:r>
              <a:rPr lang="ko-KR" altLang="en-US" sz="900" dirty="0">
                <a:solidFill>
                  <a:srgbClr val="60667C"/>
                </a:solidFill>
                <a:latin typeface="Aptos"/>
              </a:rPr>
              <a:t> </a:t>
            </a:r>
            <a:r>
              <a:rPr lang="en-US" altLang="ko-KR" sz="900" dirty="0">
                <a:solidFill>
                  <a:srgbClr val="60667C"/>
                </a:solidFill>
                <a:latin typeface="Aptos"/>
              </a:rPr>
              <a:t>· </a:t>
            </a:r>
            <a:r>
              <a:rPr lang="en-US" altLang="ko-KR" sz="900" b="1" dirty="0">
                <a:solidFill>
                  <a:srgbClr val="60667C"/>
                </a:solidFill>
                <a:latin typeface="Aptos"/>
              </a:rPr>
              <a:t>TARGET</a:t>
            </a:r>
            <a:r>
              <a:rPr lang="en-US" altLang="ko-KR" sz="900" dirty="0">
                <a:solidFill>
                  <a:srgbClr val="60667C"/>
                </a:solidFill>
                <a:latin typeface="Aptos"/>
              </a:rPr>
              <a:t> · </a:t>
            </a:r>
            <a:r>
              <a:rPr lang="en-US" altLang="ko-KR" sz="900" b="1" dirty="0">
                <a:solidFill>
                  <a:srgbClr val="60667C"/>
                </a:solidFill>
                <a:latin typeface="Aptos"/>
              </a:rPr>
              <a:t>DIGITAL</a:t>
            </a:r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을 한 화면에서 </a:t>
            </a:r>
            <a:endParaRPr lang="en-US" altLang="ko-KR" sz="900" b="1" dirty="0">
              <a:solidFill>
                <a:srgbClr val="60667C"/>
              </a:solidFill>
              <a:latin typeface="Aptos"/>
            </a:endParaRPr>
          </a:p>
          <a:p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비교하고 전체 프로그램 내 상대 위치 확인</a:t>
            </a:r>
            <a:endParaRPr lang="en-US" altLang="ko-KR" sz="850" b="1" dirty="0">
              <a:solidFill>
                <a:srgbClr val="60667C"/>
              </a:solidFill>
              <a:latin typeface="Aptos"/>
            </a:endParaRPr>
          </a:p>
          <a:p>
            <a:r>
              <a:rPr lang="en-US" altLang="ko-KR" sz="900" dirty="0">
                <a:solidFill>
                  <a:srgbClr val="60667C"/>
                </a:solidFill>
                <a:latin typeface="Aptos"/>
              </a:rPr>
              <a:t> 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3625927" y="1500633"/>
            <a:ext cx="2664141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850" b="1" dirty="0" err="1">
                <a:solidFill>
                  <a:srgbClr val="60667C"/>
                </a:solidFill>
                <a:latin typeface="Aptos"/>
              </a:rPr>
              <a:t>주차별</a:t>
            </a:r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 </a:t>
            </a:r>
            <a:r>
              <a:rPr lang="en-US" altLang="ko-KR" sz="850" b="1" dirty="0">
                <a:solidFill>
                  <a:srgbClr val="60667C"/>
                </a:solidFill>
                <a:latin typeface="Aptos"/>
              </a:rPr>
              <a:t>TV </a:t>
            </a:r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시청과 온라인 반응의 변화 시점을 비교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438914" y="4147322"/>
            <a:ext cx="285638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동영상 조회 </a:t>
            </a:r>
            <a:r>
              <a:rPr lang="en-US" altLang="ko-KR" sz="800" dirty="0">
                <a:solidFill>
                  <a:srgbClr val="60667C"/>
                </a:solidFill>
                <a:latin typeface="Aptos"/>
              </a:rPr>
              <a:t>· </a:t>
            </a:r>
            <a:r>
              <a:rPr lang="ko-KR" altLang="en-US" sz="800" b="1" dirty="0">
                <a:solidFill>
                  <a:srgbClr val="60667C"/>
                </a:solidFill>
                <a:latin typeface="Aptos"/>
              </a:rPr>
              <a:t>댓글</a:t>
            </a:r>
            <a:r>
              <a:rPr lang="en-US" altLang="ko-KR" sz="800" dirty="0">
                <a:solidFill>
                  <a:srgbClr val="60667C"/>
                </a:solidFill>
                <a:latin typeface="Aptos"/>
              </a:rPr>
              <a:t> </a:t>
            </a:r>
            <a:r>
              <a:rPr lang="en-US" altLang="ko-KR" sz="900" dirty="0">
                <a:solidFill>
                  <a:srgbClr val="60667C"/>
                </a:solidFill>
                <a:latin typeface="Aptos"/>
              </a:rPr>
              <a:t>· </a:t>
            </a:r>
            <a:r>
              <a:rPr lang="ko-KR" altLang="en-US" sz="900" b="1" dirty="0" err="1">
                <a:solidFill>
                  <a:srgbClr val="60667C"/>
                </a:solidFill>
                <a:latin typeface="Aptos"/>
              </a:rPr>
              <a:t>게시글</a:t>
            </a:r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 등 온라인 반응 추이 확인</a:t>
            </a:r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 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3605214" y="4147322"/>
            <a:ext cx="3374614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댓글 키워드와 </a:t>
            </a:r>
            <a:r>
              <a:rPr lang="ko-KR" altLang="en-US" sz="850" b="1" dirty="0" err="1">
                <a:solidFill>
                  <a:srgbClr val="60667C"/>
                </a:solidFill>
                <a:latin typeface="Aptos"/>
              </a:rPr>
              <a:t>긍</a:t>
            </a:r>
            <a:r>
              <a:rPr lang="en-US" altLang="ko-KR" sz="800" dirty="0">
                <a:solidFill>
                  <a:srgbClr val="60667C"/>
                </a:solidFill>
                <a:latin typeface="Aptos"/>
              </a:rPr>
              <a:t> ·</a:t>
            </a:r>
            <a:r>
              <a:rPr lang="ko-KR" altLang="en-US" sz="800" b="1" dirty="0">
                <a:solidFill>
                  <a:srgbClr val="60667C"/>
                </a:solidFill>
                <a:latin typeface="Aptos"/>
              </a:rPr>
              <a:t> 부정 반응을 통해 </a:t>
            </a:r>
            <a:r>
              <a:rPr lang="en-US" altLang="ko-KR" sz="800" b="1" dirty="0">
                <a:solidFill>
                  <a:srgbClr val="60667C"/>
                </a:solidFill>
                <a:latin typeface="Aptos"/>
              </a:rPr>
              <a:t>‘</a:t>
            </a:r>
            <a:r>
              <a:rPr lang="ko-KR" altLang="en-US" sz="800" b="1" dirty="0">
                <a:solidFill>
                  <a:srgbClr val="60667C"/>
                </a:solidFill>
                <a:latin typeface="Aptos"/>
              </a:rPr>
              <a:t>무엇에 반응했는지</a:t>
            </a:r>
            <a:r>
              <a:rPr lang="en-US" altLang="ko-KR" sz="800" b="1" dirty="0">
                <a:solidFill>
                  <a:srgbClr val="60667C"/>
                </a:solidFill>
                <a:latin typeface="Aptos"/>
              </a:rPr>
              <a:t>’</a:t>
            </a:r>
            <a:r>
              <a:rPr lang="ko-KR" altLang="en-US" sz="800" b="1" dirty="0">
                <a:solidFill>
                  <a:srgbClr val="60667C"/>
                </a:solidFill>
                <a:latin typeface="Aptos"/>
              </a:rPr>
              <a:t>확인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8650640" y="3127604"/>
            <a:ext cx="1592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highlight>
                  <a:srgbClr val="FFFF00"/>
                </a:highlight>
              </a:rPr>
              <a:t> // 4</a:t>
            </a:r>
            <a:r>
              <a:rPr lang="ko-KR" altLang="en-US" sz="1000" dirty="0">
                <a:highlight>
                  <a:srgbClr val="FFFF00"/>
                </a:highlight>
              </a:rPr>
              <a:t>개 분석</a:t>
            </a:r>
            <a:r>
              <a:rPr lang="en-US" altLang="ko-KR" sz="1000" dirty="0">
                <a:highlight>
                  <a:srgbClr val="FFFF00"/>
                </a:highlight>
              </a:rPr>
              <a:t> API</a:t>
            </a:r>
            <a:r>
              <a:rPr lang="ko-KR" altLang="en-US" sz="1000" dirty="0">
                <a:highlight>
                  <a:srgbClr val="FFFF00"/>
                </a:highlight>
              </a:rPr>
              <a:t> 동시 호출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967661" y="3139367"/>
            <a:ext cx="682979" cy="2122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781925" y="3390811"/>
            <a:ext cx="519113" cy="2122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Rounded Rectangle 6"/>
          <p:cNvSpPr/>
          <p:nvPr/>
        </p:nvSpPr>
        <p:spPr>
          <a:xfrm>
            <a:off x="7340095" y="2477687"/>
            <a:ext cx="2699255" cy="274320"/>
          </a:xfrm>
          <a:prstGeom prst="roundRect">
            <a:avLst/>
          </a:prstGeom>
          <a:solidFill>
            <a:srgbClr val="272748"/>
          </a:solidFill>
          <a:ln>
            <a:solidFill>
              <a:srgbClr val="27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40095" y="2514263"/>
            <a:ext cx="2699255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B4ABFF"/>
                </a:solidFill>
                <a:latin typeface="Aptos"/>
              </a:rPr>
              <a:t>여러 화면을 한 번에 불러오는 </a:t>
            </a:r>
            <a:r>
              <a:rPr lang="en-US" altLang="ko-KR" sz="800" b="1" dirty="0" err="1">
                <a:solidFill>
                  <a:srgbClr val="B4ABFF"/>
                </a:solidFill>
                <a:latin typeface="Aptos"/>
              </a:rPr>
              <a:t>Promise.all</a:t>
            </a:r>
            <a:r>
              <a:rPr lang="en-US" altLang="ko-KR" sz="800" b="1" dirty="0">
                <a:solidFill>
                  <a:srgbClr val="B4ABFF"/>
                </a:solidFill>
                <a:latin typeface="Aptos"/>
              </a:rPr>
              <a:t>() </a:t>
            </a:r>
            <a:r>
              <a:rPr lang="ko-KR" altLang="en-US" sz="800" b="1" dirty="0">
                <a:solidFill>
                  <a:srgbClr val="B4ABFF"/>
                </a:solidFill>
                <a:latin typeface="Aptos"/>
              </a:rPr>
              <a:t>코드</a:t>
            </a:r>
            <a:endParaRPr sz="800" b="1" dirty="0">
              <a:solidFill>
                <a:srgbClr val="B4AB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04 · 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WEEKLY</a:t>
            </a:r>
            <a:r>
              <a:rPr sz="850" b="1" dirty="0">
                <a:solidFill>
                  <a:srgbClr val="5C52FF"/>
                </a:solidFill>
                <a:latin typeface="Aptos"/>
              </a:rPr>
              <a:t>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B26"/>
                </a:solidFill>
                <a:latin typeface="Aptos"/>
              </a:rPr>
              <a:t>시간에 따라 신호가 어떻게 변하는가?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33922" y="955979"/>
            <a:ext cx="1708024" cy="274320"/>
          </a:xfrm>
          <a:prstGeom prst="roundRect">
            <a:avLst/>
          </a:prstGeom>
          <a:solidFill>
            <a:srgbClr val="272748"/>
          </a:solidFill>
          <a:ln>
            <a:solidFill>
              <a:srgbClr val="27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33922" y="992555"/>
            <a:ext cx="1708024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B4ABFF"/>
                </a:solidFill>
                <a:latin typeface="Aptos"/>
              </a:rPr>
              <a:t>WEEKLY </a:t>
            </a:r>
            <a:r>
              <a:rPr lang="en-US" sz="800" b="1" dirty="0">
                <a:solidFill>
                  <a:srgbClr val="B4ABFF"/>
                </a:solidFill>
                <a:latin typeface="Aptos"/>
              </a:rPr>
              <a:t>DATA PROCESSING</a:t>
            </a:r>
            <a:endParaRPr sz="800" b="1" dirty="0">
              <a:solidFill>
                <a:srgbClr val="B4AB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15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09" y="2258567"/>
            <a:ext cx="6045941" cy="3480767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60" y="1777178"/>
            <a:ext cx="1671684" cy="618962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661034" y="5923520"/>
            <a:ext cx="641644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91B26"/>
                </a:solidFill>
                <a:latin typeface="Aptos"/>
              </a:rPr>
              <a:t>단위가 다른 시청률과 온라인 반응을 직접 수치로 비교한 것이 아니라</a:t>
            </a:r>
            <a:r>
              <a:rPr lang="en-US" altLang="ko-KR" sz="1000" b="1" dirty="0">
                <a:solidFill>
                  <a:srgbClr val="191B26"/>
                </a:solidFill>
                <a:latin typeface="Aptos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rgbClr val="191B26"/>
                </a:solidFill>
                <a:latin typeface="Aptos"/>
              </a:rPr>
              <a:t>변화 흐름을 보기 위해 상대 지수로 변환해 비교</a:t>
            </a:r>
            <a:endParaRPr sz="10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" y="1088947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한 시점의 숫자만 보는 것이 아니라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, </a:t>
            </a:r>
            <a:r>
              <a:rPr lang="ko-KR" altLang="en-US" sz="1000" b="0" dirty="0" err="1">
                <a:solidFill>
                  <a:srgbClr val="60667C"/>
                </a:solidFill>
                <a:latin typeface="Aptos"/>
              </a:rPr>
              <a:t>주차별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 데이터를 비교하면 </a:t>
            </a:r>
            <a:endParaRPr lang="en-US" altLang="ko-KR" sz="1000" b="0" dirty="0">
              <a:solidFill>
                <a:srgbClr val="60667C"/>
              </a:solidFill>
              <a:latin typeface="Aptos"/>
            </a:endParaRPr>
          </a:p>
          <a:p>
            <a:pPr algn="l"/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TV 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시청과 온라인 반응이 언제 상승하고 하락했는지 확인할 수 있다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354" y="1344076"/>
            <a:ext cx="4041798" cy="48556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9061625" y="1794344"/>
            <a:ext cx="21996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Excel</a:t>
            </a:r>
            <a:r>
              <a:rPr lang="ko-KR" altLang="en-US" sz="900" dirty="0">
                <a:highlight>
                  <a:srgbClr val="FFFF00"/>
                </a:highlight>
              </a:rPr>
              <a:t>에서 </a:t>
            </a:r>
            <a:r>
              <a:rPr lang="en-US" altLang="ko-KR" sz="900" dirty="0">
                <a:highlight>
                  <a:srgbClr val="FFFF00"/>
                </a:highlight>
              </a:rPr>
              <a:t>‘</a:t>
            </a:r>
            <a:r>
              <a:rPr lang="ko-KR" altLang="en-US" sz="900" dirty="0" err="1">
                <a:highlight>
                  <a:srgbClr val="FFFF00"/>
                </a:highlight>
              </a:rPr>
              <a:t>주차별반응</a:t>
            </a:r>
            <a:r>
              <a:rPr lang="en-US" altLang="ko-KR" sz="900" dirty="0">
                <a:highlight>
                  <a:srgbClr val="FFFF00"/>
                </a:highlight>
              </a:rPr>
              <a:t>’ </a:t>
            </a:r>
            <a:r>
              <a:rPr lang="ko-KR" altLang="en-US" sz="900" dirty="0">
                <a:highlight>
                  <a:srgbClr val="FFFF00"/>
                </a:highlight>
              </a:rPr>
              <a:t>시트 불러오기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7613825" y="2480144"/>
            <a:ext cx="22493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>
                <a:highlight>
                  <a:srgbClr val="FFFF00"/>
                </a:highlight>
              </a:rPr>
              <a:t>사용자가 선택한 프로그램만 가져오기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8604448" y="4123980"/>
            <a:ext cx="17876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>
                <a:highlight>
                  <a:srgbClr val="FFFF00"/>
                </a:highlight>
              </a:rPr>
              <a:t>그래프에 사용할 데이터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2055" t="15776" b="8850"/>
          <a:stretch/>
        </p:blipFill>
        <p:spPr>
          <a:xfrm>
            <a:off x="465298" y="1130402"/>
            <a:ext cx="1190558" cy="428649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04 · CO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MMENT</a:t>
            </a:r>
            <a:r>
              <a:rPr sz="850" b="1" dirty="0">
                <a:solidFill>
                  <a:srgbClr val="5C52FF"/>
                </a:solidFill>
                <a:latin typeface="Aptos"/>
              </a:rPr>
              <a:t>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997" y="489585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숫자가 크다는 것만으로 왜 반응했는지 알 수 없다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16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7" y="1666773"/>
            <a:ext cx="3392253" cy="2178653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98" y="3990515"/>
            <a:ext cx="3392253" cy="2178653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262" y="1948975"/>
            <a:ext cx="2548771" cy="346615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000" y="3069585"/>
            <a:ext cx="2625135" cy="2970481"/>
          </a:xfrm>
          <a:prstGeom prst="rect">
            <a:avLst/>
          </a:prstGeom>
        </p:spPr>
      </p:pic>
      <p:sp>
        <p:nvSpPr>
          <p:cNvPr id="32" name="Rounded Rectangle 6"/>
          <p:cNvSpPr/>
          <p:nvPr/>
        </p:nvSpPr>
        <p:spPr>
          <a:xfrm>
            <a:off x="6394262" y="1414753"/>
            <a:ext cx="1708024" cy="274320"/>
          </a:xfrm>
          <a:prstGeom prst="roundRect">
            <a:avLst/>
          </a:prstGeom>
          <a:solidFill>
            <a:srgbClr val="272748"/>
          </a:solidFill>
          <a:ln>
            <a:solidFill>
              <a:srgbClr val="27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4262" y="1451329"/>
            <a:ext cx="1708024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800" b="1" dirty="0">
                <a:solidFill>
                  <a:srgbClr val="B4ABFF"/>
                </a:solidFill>
                <a:latin typeface="Aptos"/>
              </a:rPr>
              <a:t>COMMENT DATA PROCESSING</a:t>
            </a:r>
            <a:endParaRPr sz="800" b="1" dirty="0">
              <a:solidFill>
                <a:srgbClr val="B4ABFF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6273075" y="1811259"/>
            <a:ext cx="17620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 err="1">
                <a:highlight>
                  <a:srgbClr val="FFFF00"/>
                </a:highlight>
              </a:rPr>
              <a:t>댓글키워드</a:t>
            </a:r>
            <a:r>
              <a:rPr lang="ko-KR" altLang="en-US" sz="900" dirty="0">
                <a:highlight>
                  <a:srgbClr val="FFFF00"/>
                </a:highlight>
              </a:rPr>
              <a:t> 데이터 불러오기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6584695" y="3202579"/>
            <a:ext cx="23903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>
                <a:highlight>
                  <a:srgbClr val="FFFF00"/>
                </a:highlight>
              </a:rPr>
              <a:t>선택한 프로그램의 댓글 키워드만 </a:t>
            </a:r>
            <a:r>
              <a:rPr lang="ko-KR" altLang="en-US" sz="900" dirty="0" err="1">
                <a:highlight>
                  <a:srgbClr val="FFFF00"/>
                </a:highlight>
              </a:rPr>
              <a:t>필터링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6394262" y="4626779"/>
            <a:ext cx="19287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 err="1">
                <a:highlight>
                  <a:srgbClr val="FFFF00"/>
                </a:highlight>
              </a:rPr>
              <a:t>언급량</a:t>
            </a:r>
            <a:r>
              <a:rPr lang="ko-KR" altLang="en-US" sz="900" dirty="0">
                <a:highlight>
                  <a:srgbClr val="FFFF00"/>
                </a:highlight>
              </a:rPr>
              <a:t> 많은 키워드 순으로 정렬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8943033" y="2918580"/>
            <a:ext cx="16722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>
                <a:highlight>
                  <a:srgbClr val="FFFF00"/>
                </a:highlight>
              </a:rPr>
              <a:t>댓글 감성 데이터 불러오기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10039607" y="4060806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 err="1">
                <a:highlight>
                  <a:srgbClr val="FFFF00"/>
                </a:highlight>
              </a:rPr>
              <a:t>필터링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05402B-0148-4B27-ACAE-13D497C36065}"/>
              </a:ext>
            </a:extLst>
          </p:cNvPr>
          <p:cNvSpPr txBox="1"/>
          <p:nvPr/>
        </p:nvSpPr>
        <p:spPr>
          <a:xfrm>
            <a:off x="10203596" y="4840940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 // </a:t>
            </a:r>
            <a:r>
              <a:rPr lang="ko-KR" altLang="en-US" sz="900" dirty="0">
                <a:highlight>
                  <a:srgbClr val="FFFF00"/>
                </a:highlight>
              </a:rPr>
              <a:t>긍정</a:t>
            </a:r>
            <a:r>
              <a:rPr lang="en-US" altLang="ko-KR" sz="900" dirty="0">
                <a:highlight>
                  <a:srgbClr val="FFFF00"/>
                </a:highlight>
              </a:rPr>
              <a:t>, </a:t>
            </a:r>
            <a:r>
              <a:rPr lang="ko-KR" altLang="en-US" sz="900" dirty="0">
                <a:highlight>
                  <a:srgbClr val="FFFF00"/>
                </a:highlight>
              </a:rPr>
              <a:t>부정 비율 가져오기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72FA0FA-2780-43EF-A987-984314779882}"/>
              </a:ext>
            </a:extLst>
          </p:cNvPr>
          <p:cNvGrpSpPr/>
          <p:nvPr/>
        </p:nvGrpSpPr>
        <p:grpSpPr>
          <a:xfrm>
            <a:off x="3582924" y="2400696"/>
            <a:ext cx="1887214" cy="993232"/>
            <a:chOff x="1215390" y="1723709"/>
            <a:chExt cx="837055" cy="274320"/>
          </a:xfrm>
        </p:grpSpPr>
        <p:sp>
          <p:nvSpPr>
            <p:cNvPr id="41" name="Rounded Rectangle 4">
              <a:extLst>
                <a:ext uri="{FF2B5EF4-FFF2-40B4-BE49-F238E27FC236}">
                  <a16:creationId xmlns:a16="http://schemas.microsoft.com/office/drawing/2014/main" id="{F9EE6394-DE9C-4E14-A9A3-7CC066953FF2}"/>
                </a:ext>
              </a:extLst>
            </p:cNvPr>
            <p:cNvSpPr/>
            <p:nvPr/>
          </p:nvSpPr>
          <p:spPr>
            <a:xfrm>
              <a:off x="1215390" y="1723709"/>
              <a:ext cx="837055" cy="274320"/>
            </a:xfrm>
            <a:prstGeom prst="roundRect">
              <a:avLst/>
            </a:prstGeom>
            <a:solidFill>
              <a:srgbClr val="EFEDFF"/>
            </a:solidFill>
            <a:ln>
              <a:solidFill>
                <a:srgbClr val="EFED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D0DB76-0374-4260-A81A-9D0D081E1BC2}"/>
                </a:ext>
              </a:extLst>
            </p:cNvPr>
            <p:cNvSpPr txBox="1"/>
            <p:nvPr/>
          </p:nvSpPr>
          <p:spPr>
            <a:xfrm>
              <a:off x="1258061" y="1753137"/>
              <a:ext cx="751713" cy="5950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5C52FF"/>
                  </a:solidFill>
                  <a:latin typeface="Aptos"/>
                </a:rPr>
                <a:t>반응의 규모</a:t>
              </a:r>
              <a:endParaRPr sz="800" b="1" dirty="0">
                <a:solidFill>
                  <a:srgbClr val="5C52FF"/>
                </a:solidFill>
                <a:latin typeface="Apto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3582924" y="2730851"/>
            <a:ext cx="2217795" cy="5001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850" b="1" dirty="0">
                <a:solidFill>
                  <a:srgbClr val="60667C"/>
                </a:solidFill>
                <a:latin typeface="Aptos"/>
              </a:rPr>
              <a:t>DIGITAL SIGNAL </a:t>
            </a:r>
          </a:p>
          <a:p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동영상 조회 </a:t>
            </a:r>
            <a:r>
              <a:rPr lang="en-US" altLang="ko-KR" sz="800" dirty="0">
                <a:solidFill>
                  <a:srgbClr val="60667C"/>
                </a:solidFill>
                <a:latin typeface="Aptos"/>
              </a:rPr>
              <a:t>· </a:t>
            </a:r>
            <a:r>
              <a:rPr lang="ko-KR" altLang="en-US" sz="800" b="1" dirty="0">
                <a:solidFill>
                  <a:srgbClr val="60667C"/>
                </a:solidFill>
                <a:latin typeface="Aptos"/>
              </a:rPr>
              <a:t>댓글</a:t>
            </a:r>
            <a:r>
              <a:rPr lang="en-US" altLang="ko-KR" sz="800" dirty="0">
                <a:solidFill>
                  <a:srgbClr val="60667C"/>
                </a:solidFill>
                <a:latin typeface="Aptos"/>
              </a:rPr>
              <a:t> </a:t>
            </a:r>
            <a:r>
              <a:rPr lang="en-US" altLang="ko-KR" sz="900" dirty="0">
                <a:solidFill>
                  <a:srgbClr val="60667C"/>
                </a:solidFill>
                <a:latin typeface="Aptos"/>
              </a:rPr>
              <a:t>· </a:t>
            </a:r>
            <a:r>
              <a:rPr lang="ko-KR" altLang="en-US" sz="900" b="1" dirty="0" err="1">
                <a:solidFill>
                  <a:srgbClr val="60667C"/>
                </a:solidFill>
                <a:latin typeface="Aptos"/>
              </a:rPr>
              <a:t>게시글을</a:t>
            </a:r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 통해 </a:t>
            </a:r>
            <a:endParaRPr lang="en-US" altLang="ko-KR" sz="900" b="1" dirty="0">
              <a:solidFill>
                <a:srgbClr val="60667C"/>
              </a:solidFill>
              <a:latin typeface="Aptos"/>
            </a:endParaRPr>
          </a:p>
          <a:p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온라인 반응 규모 확인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43" name="아래쪽 화살표 42"/>
          <p:cNvSpPr/>
          <p:nvPr/>
        </p:nvSpPr>
        <p:spPr>
          <a:xfrm>
            <a:off x="4373403" y="3658210"/>
            <a:ext cx="306256" cy="69944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72FA0FA-2780-43EF-A987-984314779882}"/>
              </a:ext>
            </a:extLst>
          </p:cNvPr>
          <p:cNvGrpSpPr/>
          <p:nvPr/>
        </p:nvGrpSpPr>
        <p:grpSpPr>
          <a:xfrm>
            <a:off x="3488355" y="4663090"/>
            <a:ext cx="2217795" cy="993232"/>
            <a:chOff x="1215390" y="1723709"/>
            <a:chExt cx="837055" cy="274320"/>
          </a:xfrm>
        </p:grpSpPr>
        <p:sp>
          <p:nvSpPr>
            <p:cNvPr id="45" name="Rounded Rectangle 4">
              <a:extLst>
                <a:ext uri="{FF2B5EF4-FFF2-40B4-BE49-F238E27FC236}">
                  <a16:creationId xmlns:a16="http://schemas.microsoft.com/office/drawing/2014/main" id="{F9EE6394-DE9C-4E14-A9A3-7CC066953FF2}"/>
                </a:ext>
              </a:extLst>
            </p:cNvPr>
            <p:cNvSpPr/>
            <p:nvPr/>
          </p:nvSpPr>
          <p:spPr>
            <a:xfrm>
              <a:off x="1215390" y="1723709"/>
              <a:ext cx="837055" cy="274320"/>
            </a:xfrm>
            <a:prstGeom prst="roundRect">
              <a:avLst/>
            </a:prstGeom>
            <a:solidFill>
              <a:srgbClr val="EFEDFF"/>
            </a:solidFill>
            <a:ln>
              <a:solidFill>
                <a:srgbClr val="EFED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7D0DB76-0374-4260-A81A-9D0D081E1BC2}"/>
                </a:ext>
              </a:extLst>
            </p:cNvPr>
            <p:cNvSpPr txBox="1"/>
            <p:nvPr/>
          </p:nvSpPr>
          <p:spPr>
            <a:xfrm>
              <a:off x="1258061" y="1753137"/>
              <a:ext cx="751713" cy="5950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5C52FF"/>
                  </a:solidFill>
                  <a:latin typeface="Aptos"/>
                </a:rPr>
                <a:t>반응의 내용</a:t>
              </a:r>
              <a:endParaRPr sz="800" b="1" dirty="0">
                <a:solidFill>
                  <a:srgbClr val="5C52FF"/>
                </a:solidFill>
                <a:latin typeface="Apto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801AB4A-ACCF-4705-BC27-9D281A5AA30C}"/>
              </a:ext>
            </a:extLst>
          </p:cNvPr>
          <p:cNvSpPr txBox="1"/>
          <p:nvPr/>
        </p:nvSpPr>
        <p:spPr>
          <a:xfrm>
            <a:off x="3601413" y="4999127"/>
            <a:ext cx="3427413" cy="5001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850" b="1" dirty="0">
                <a:solidFill>
                  <a:srgbClr val="60667C"/>
                </a:solidFill>
                <a:latin typeface="Aptos"/>
              </a:rPr>
              <a:t>COMMENT SIGNAL </a:t>
            </a:r>
          </a:p>
          <a:p>
            <a:r>
              <a:rPr lang="ko-KR" altLang="en-US" sz="850" b="1" dirty="0">
                <a:solidFill>
                  <a:srgbClr val="60667C"/>
                </a:solidFill>
                <a:latin typeface="Aptos"/>
              </a:rPr>
              <a:t>주요 댓글 키워드와 </a:t>
            </a:r>
            <a:r>
              <a:rPr lang="ko-KR" altLang="en-US" sz="850" b="1" dirty="0" err="1">
                <a:solidFill>
                  <a:srgbClr val="60667C"/>
                </a:solidFill>
                <a:latin typeface="Aptos"/>
              </a:rPr>
              <a:t>긍</a:t>
            </a:r>
            <a:r>
              <a:rPr lang="en-US" altLang="ko-KR" sz="900" dirty="0">
                <a:solidFill>
                  <a:srgbClr val="60667C"/>
                </a:solidFill>
                <a:latin typeface="Aptos"/>
              </a:rPr>
              <a:t> · </a:t>
            </a:r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부정 비율을 </a:t>
            </a:r>
            <a:endParaRPr lang="en-US" altLang="ko-KR" sz="900" b="1" dirty="0">
              <a:solidFill>
                <a:srgbClr val="60667C"/>
              </a:solidFill>
              <a:latin typeface="Aptos"/>
            </a:endParaRPr>
          </a:p>
          <a:p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통해</a:t>
            </a:r>
            <a:r>
              <a:rPr lang="en-US" altLang="ko-KR" sz="900" b="1" dirty="0">
                <a:solidFill>
                  <a:srgbClr val="60667C"/>
                </a:solidFill>
                <a:latin typeface="Aptos"/>
              </a:rPr>
              <a:t> </a:t>
            </a:r>
            <a:r>
              <a:rPr lang="ko-KR" altLang="en-US" sz="900" b="1" dirty="0">
                <a:solidFill>
                  <a:srgbClr val="60667C"/>
                </a:solidFill>
                <a:latin typeface="Aptos"/>
              </a:rPr>
              <a:t>반응 내용 확인</a:t>
            </a:r>
            <a:endParaRPr sz="850" b="1" dirty="0">
              <a:solidFill>
                <a:srgbClr val="60667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5C52FF"/>
                </a:solidFill>
                <a:latin typeface="Aptos"/>
              </a:rPr>
              <a:t>04 · </a:t>
            </a:r>
            <a:r>
              <a:rPr lang="en-US" sz="850" b="1" dirty="0">
                <a:solidFill>
                  <a:srgbClr val="5C52FF"/>
                </a:solidFill>
                <a:latin typeface="Aptos"/>
              </a:rPr>
              <a:t>SERVICE EXPANSION</a:t>
            </a:r>
            <a:endParaRPr sz="850" b="1" dirty="0">
              <a:solidFill>
                <a:srgbClr val="5C52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콘텐츠 분석에서 기획과 비즈니스로 확장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17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rcRect l="2082" t="9752" r="1869" b="7540"/>
          <a:stretch/>
        </p:blipFill>
        <p:spPr>
          <a:xfrm>
            <a:off x="2509444" y="1696453"/>
            <a:ext cx="6873574" cy="169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7151" y="1123064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분</a:t>
            </a:r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석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 결과를 바탕으로 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CREATIVE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와 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BUSINESS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로 이어지는 사용자 흐름을 설계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rcRect b="39962"/>
          <a:stretch/>
        </p:blipFill>
        <p:spPr>
          <a:xfrm>
            <a:off x="625423" y="4198791"/>
            <a:ext cx="5208449" cy="1985761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442" y="4198791"/>
            <a:ext cx="5195830" cy="1985761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cxnSp>
        <p:nvCxnSpPr>
          <p:cNvPr id="22" name="직선 화살표 연결선 21"/>
          <p:cNvCxnSpPr/>
          <p:nvPr/>
        </p:nvCxnSpPr>
        <p:spPr>
          <a:xfrm flipH="1">
            <a:off x="3362101" y="3518296"/>
            <a:ext cx="620352" cy="396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7820527" y="3472706"/>
            <a:ext cx="646532" cy="4283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56179" y="3408266"/>
            <a:ext cx="1580103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30" dirty="0">
                <a:solidFill>
                  <a:srgbClr val="64687A"/>
                </a:solidFill>
                <a:latin typeface="Aptos"/>
              </a:rPr>
              <a:t>분석 페이지 하단의 이동 탭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66128" y="6223850"/>
            <a:ext cx="1580103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30">
                <a:solidFill>
                  <a:srgbClr val="64687A"/>
                </a:solidFill>
                <a:latin typeface="Aptos"/>
              </a:rPr>
              <a:t>콘텐츠 기획 </a:t>
            </a:r>
            <a:r>
              <a:rPr lang="ko-KR" altLang="en-US" sz="830" dirty="0" err="1">
                <a:solidFill>
                  <a:srgbClr val="64687A"/>
                </a:solidFill>
                <a:latin typeface="Aptos"/>
              </a:rPr>
              <a:t>인사이트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3049" y="6224813"/>
            <a:ext cx="1580103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830" dirty="0">
                <a:solidFill>
                  <a:srgbClr val="64687A"/>
                </a:solidFill>
                <a:latin typeface="Aptos"/>
              </a:rPr>
              <a:t>광고</a:t>
            </a:r>
            <a:r>
              <a:rPr lang="en-US" altLang="ko-KR" sz="830" dirty="0">
                <a:solidFill>
                  <a:srgbClr val="64687A"/>
                </a:solidFill>
                <a:latin typeface="Aptos"/>
              </a:rPr>
              <a:t>, </a:t>
            </a:r>
            <a:r>
              <a:rPr lang="ko-KR" altLang="en-US" sz="830" dirty="0">
                <a:solidFill>
                  <a:srgbClr val="64687A"/>
                </a:solidFill>
                <a:latin typeface="Aptos"/>
              </a:rPr>
              <a:t>협찬 검토 </a:t>
            </a:r>
            <a:r>
              <a:rPr lang="ko-KR" altLang="en-US" sz="830" dirty="0" err="1">
                <a:solidFill>
                  <a:srgbClr val="64687A"/>
                </a:solidFill>
                <a:latin typeface="Aptos"/>
              </a:rPr>
              <a:t>인사이트</a:t>
            </a:r>
            <a:endParaRPr sz="830" b="0" dirty="0">
              <a:solidFill>
                <a:srgbClr val="64687A"/>
              </a:solidFill>
              <a:latin typeface="Apto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679122" y="2826115"/>
            <a:ext cx="1186708" cy="464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097283" y="2810566"/>
            <a:ext cx="1186708" cy="464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04 · CREATIVE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예측이 아닌</a:t>
            </a:r>
            <a:r>
              <a:rPr lang="en-US" altLang="ko-KR" sz="2500" b="1" dirty="0">
                <a:solidFill>
                  <a:srgbClr val="191B26"/>
                </a:solidFill>
                <a:latin typeface="Aptos"/>
              </a:rPr>
              <a:t>,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분석</a:t>
            </a:r>
            <a:r>
              <a:rPr lang="en-US"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결과를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콘텐츠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기획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인사이트로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확장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17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945" y="1204976"/>
            <a:ext cx="4974207" cy="4170227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33" y="1204976"/>
            <a:ext cx="5288477" cy="4182927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20" name="직사각형 19"/>
          <p:cNvSpPr/>
          <p:nvPr/>
        </p:nvSpPr>
        <p:spPr>
          <a:xfrm>
            <a:off x="718410" y="1823214"/>
            <a:ext cx="4882290" cy="336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51305" y="3025701"/>
            <a:ext cx="5016500" cy="626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6667500" y="1962915"/>
            <a:ext cx="4808220" cy="109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758940" y="4000500"/>
            <a:ext cx="4716780" cy="1387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2493263" y="1367591"/>
            <a:ext cx="27687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①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프로그램 직접 검색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원하는 프로그램을 검색해 기획 탐색 시작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565399" y="3804326"/>
            <a:ext cx="262443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②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분석 기준으로 탐색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디지털 반응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타깃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숨은 신호 기준으로 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프로그램 후보 탐색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8891250" y="2010182"/>
            <a:ext cx="235673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③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데이터 기반 기본 분석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기존 분석 데이터에서 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키워드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감성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타깃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조회 반응 확인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338488" y="4218624"/>
            <a:ext cx="190949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④ AI </a:t>
            </a:r>
            <a:r>
              <a:rPr lang="ko-KR" altLang="en-US" sz="1000" b="1" dirty="0">
                <a:solidFill>
                  <a:srgbClr val="FF0000"/>
                </a:solidFill>
              </a:rPr>
              <a:t>기획 </a:t>
            </a:r>
            <a:r>
              <a:rPr lang="ko-KR" altLang="en-US" sz="1000" b="1" dirty="0" err="1">
                <a:solidFill>
                  <a:srgbClr val="FF0000"/>
                </a:solidFill>
              </a:rPr>
              <a:t>인사이트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관찰된 데이터를 바탕으로 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AI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기획 아이디어 생성</a:t>
            </a:r>
          </a:p>
        </p:txBody>
      </p:sp>
      <p:sp>
        <p:nvSpPr>
          <p:cNvPr id="28" name="Rounded Rectangle 18"/>
          <p:cNvSpPr/>
          <p:nvPr/>
        </p:nvSpPr>
        <p:spPr>
          <a:xfrm>
            <a:off x="502920" y="5798549"/>
            <a:ext cx="11018520" cy="442339"/>
          </a:xfrm>
          <a:prstGeom prst="roundRect">
            <a:avLst/>
          </a:prstGeom>
          <a:solidFill>
            <a:srgbClr val="0E1020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887450"/>
            <a:ext cx="104241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검색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/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탐색 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-&gt; 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데이터 확인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  <a:sym typeface="Wingdings" panose="05000000000000000000" pitchFamily="2" charset="2"/>
              </a:rPr>
              <a:t> -&gt; AI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  <a:sym typeface="Wingdings" panose="05000000000000000000" pitchFamily="2" charset="2"/>
              </a:rPr>
              <a:t>아이디어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01886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04 · CREATIVE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분석한 프로그램을 그대로 기획 단계로 연결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072536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다시 검색할 필요 없이 분석한 프로그램의 데이터를 전달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17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821234" y="1238678"/>
            <a:ext cx="4153674" cy="4965127"/>
            <a:chOff x="6931514" y="1508825"/>
            <a:chExt cx="4153674" cy="496512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1514" y="1508825"/>
              <a:ext cx="4153674" cy="496512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8657039" y="1879080"/>
              <a:ext cx="14975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CREATIVE </a:t>
              </a:r>
              <a:r>
                <a:rPr lang="ko-KR" altLang="en-US" sz="900" dirty="0">
                  <a:highlight>
                    <a:srgbClr val="FFFF00"/>
                  </a:highlight>
                </a:rPr>
                <a:t>페이지로 이동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7801919" y="2101107"/>
              <a:ext cx="24272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State</a:t>
              </a:r>
              <a:r>
                <a:rPr lang="ko-KR" altLang="en-US" sz="900" dirty="0">
                  <a:highlight>
                    <a:srgbClr val="FFFF00"/>
                  </a:highlight>
                </a:rPr>
                <a:t>를 이용해 기존 분석 결과를 함께 전달</a:t>
              </a: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7269481" y="2125152"/>
              <a:ext cx="464820" cy="147036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8898071" y="2323134"/>
              <a:ext cx="15311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</a:t>
              </a:r>
              <a:r>
                <a:rPr lang="ko-KR" altLang="en-US" sz="900" dirty="0">
                  <a:highlight>
                    <a:srgbClr val="FFFF00"/>
                  </a:highlight>
                </a:rPr>
                <a:t>기본 프로그램 정보 전달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8447928" y="3063463"/>
              <a:ext cx="2637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</a:t>
              </a:r>
              <a:r>
                <a:rPr lang="ko-KR" altLang="en-US" sz="900" dirty="0">
                  <a:highlight>
                    <a:srgbClr val="FFFF00"/>
                  </a:highlight>
                </a:rPr>
                <a:t>댓글 분석 결과 전달</a:t>
              </a:r>
              <a:endParaRPr lang="en-US" altLang="ko-KR" sz="900" dirty="0">
                <a:highlight>
                  <a:srgbClr val="FFFF00"/>
                </a:highlight>
              </a:endParaRPr>
            </a:p>
            <a:p>
              <a:r>
                <a:rPr lang="en-US" altLang="ko-KR" sz="900" dirty="0">
                  <a:highlight>
                    <a:srgbClr val="FFFF00"/>
                  </a:highlight>
                </a:rPr>
                <a:t>//  </a:t>
              </a:r>
              <a:r>
                <a:rPr lang="ko-KR" altLang="en-US" sz="900" dirty="0">
                  <a:highlight>
                    <a:srgbClr val="FFFF00"/>
                  </a:highlight>
                </a:rPr>
                <a:t>주요 키워드 </a:t>
              </a:r>
              <a:r>
                <a:rPr lang="en-US" altLang="ko-KR" sz="900" dirty="0">
                  <a:highlight>
                    <a:srgbClr val="FFFF00"/>
                  </a:highlight>
                </a:rPr>
                <a:t>+ </a:t>
              </a:r>
              <a:r>
                <a:rPr lang="ko-KR" altLang="en-US" sz="900" dirty="0">
                  <a:highlight>
                    <a:srgbClr val="FFFF00"/>
                  </a:highlight>
                </a:rPr>
                <a:t>긍정</a:t>
              </a:r>
              <a:r>
                <a:rPr lang="en-US" altLang="ko-KR" sz="900" dirty="0">
                  <a:highlight>
                    <a:srgbClr val="FFFF00"/>
                  </a:highlight>
                </a:rPr>
                <a:t>, </a:t>
              </a:r>
              <a:r>
                <a:rPr lang="ko-KR" altLang="en-US" sz="900" dirty="0">
                  <a:highlight>
                    <a:srgbClr val="FFFF00"/>
                  </a:highlight>
                </a:rPr>
                <a:t>부정 감성 </a:t>
              </a:r>
              <a:r>
                <a:rPr lang="en-US" altLang="ko-KR" sz="900" dirty="0">
                  <a:highlight>
                    <a:srgbClr val="FFFF00"/>
                  </a:highlight>
                </a:rPr>
                <a:t>+ </a:t>
              </a:r>
              <a:r>
                <a:rPr lang="ko-KR" altLang="en-US" sz="900" dirty="0">
                  <a:highlight>
                    <a:srgbClr val="FFFF00"/>
                  </a:highlight>
                </a:rPr>
                <a:t>분석 기준 주차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8623377" y="3761152"/>
              <a:ext cx="15311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</a:t>
              </a:r>
              <a:r>
                <a:rPr lang="ko-KR" altLang="en-US" sz="900" dirty="0" err="1">
                  <a:highlight>
                    <a:srgbClr val="FFFF00"/>
                  </a:highlight>
                </a:rPr>
                <a:t>주차별</a:t>
              </a:r>
              <a:r>
                <a:rPr lang="ko-KR" altLang="en-US" sz="900" dirty="0">
                  <a:highlight>
                    <a:srgbClr val="FFFF00"/>
                  </a:highlight>
                </a:rPr>
                <a:t> 분석 데이터 전달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8010183" y="4037879"/>
              <a:ext cx="141577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</a:t>
              </a:r>
              <a:r>
                <a:rPr lang="ko-KR" altLang="en-US" sz="900" dirty="0">
                  <a:highlight>
                    <a:srgbClr val="FFFF00"/>
                  </a:highlight>
                </a:rPr>
                <a:t>타깃 분석 데이터 전달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05402B-0148-4B27-ACAE-13D497C36065}"/>
                </a:ext>
              </a:extLst>
            </p:cNvPr>
            <p:cNvSpPr txBox="1"/>
            <p:nvPr/>
          </p:nvSpPr>
          <p:spPr>
            <a:xfrm>
              <a:off x="8010183" y="5117639"/>
              <a:ext cx="15311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 </a:t>
              </a:r>
              <a:r>
                <a:rPr lang="ko-KR" altLang="en-US" sz="900" dirty="0">
                  <a:highlight>
                    <a:srgbClr val="FFFF00"/>
                  </a:highlight>
                </a:rPr>
                <a:t>디지털 반응 데이터 전달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399031" y="5639451"/>
            <a:ext cx="4104121" cy="640080"/>
            <a:chOff x="7801919" y="6980332"/>
            <a:chExt cx="4208780" cy="640080"/>
          </a:xfrm>
        </p:grpSpPr>
        <p:sp>
          <p:nvSpPr>
            <p:cNvPr id="20" name="Rounded Rectangle 18"/>
            <p:cNvSpPr/>
            <p:nvPr/>
          </p:nvSpPr>
          <p:spPr>
            <a:xfrm>
              <a:off x="7801919" y="6980332"/>
              <a:ext cx="4208780" cy="640080"/>
            </a:xfrm>
            <a:prstGeom prst="roundRect">
              <a:avLst/>
            </a:prstGeom>
            <a:solidFill>
              <a:srgbClr val="0E1020"/>
            </a:solidFill>
            <a:ln>
              <a:solidFill>
                <a:srgbClr val="0E10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15434" y="7100317"/>
              <a:ext cx="3981750" cy="4001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FFFFFF"/>
                  </a:solidFill>
                  <a:latin typeface="Aptos"/>
                </a:rPr>
                <a:t>분석한 데이터를 </a:t>
              </a:r>
              <a:r>
                <a:rPr lang="en-US" altLang="ko-KR" sz="1000" b="1" dirty="0">
                  <a:solidFill>
                    <a:srgbClr val="FFFFFF"/>
                  </a:solidFill>
                  <a:latin typeface="Aptos"/>
                </a:rPr>
                <a:t>State</a:t>
              </a:r>
              <a:r>
                <a:rPr lang="ko-KR" altLang="en-US" sz="1000" b="1" dirty="0">
                  <a:solidFill>
                    <a:srgbClr val="FFFFFF"/>
                  </a:solidFill>
                  <a:latin typeface="Aptos"/>
                </a:rPr>
                <a:t>로 전달하여</a:t>
              </a:r>
              <a:r>
                <a:rPr lang="en-US" altLang="ko-KR" sz="1000" b="1" dirty="0">
                  <a:solidFill>
                    <a:srgbClr val="FFFFFF"/>
                  </a:solidFill>
                  <a:latin typeface="Aptos"/>
                </a:rPr>
                <a:t>, </a:t>
              </a:r>
              <a:r>
                <a:rPr lang="ko-KR" altLang="en-US" sz="1000" b="1" dirty="0">
                  <a:solidFill>
                    <a:srgbClr val="FFFFFF"/>
                  </a:solidFill>
                  <a:latin typeface="Aptos"/>
                </a:rPr>
                <a:t>다시 검색하지 않고</a:t>
              </a:r>
              <a:endParaRPr lang="en-US" altLang="ko-KR" sz="1000" b="1" dirty="0">
                <a:solidFill>
                  <a:srgbClr val="FFFFFF"/>
                </a:solidFill>
                <a:latin typeface="Aptos"/>
              </a:endParaRPr>
            </a:p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Aptos"/>
                </a:rPr>
                <a:t>CREATIVE SIGNAL</a:t>
              </a:r>
              <a:r>
                <a:rPr lang="ko-KR" altLang="en-US" sz="1000" b="1" dirty="0">
                  <a:solidFill>
                    <a:schemeClr val="bg1"/>
                  </a:solidFill>
                  <a:latin typeface="Aptos"/>
                </a:rPr>
                <a:t>에서 바로 기획 탐색을 이어갈 수 있도록 구현</a:t>
              </a:r>
              <a:endParaRPr sz="1000" b="1" dirty="0">
                <a:solidFill>
                  <a:schemeClr val="bg1"/>
                </a:solidFill>
                <a:latin typeface="Aptos"/>
              </a:endParaRPr>
            </a:p>
          </p:txBody>
        </p:sp>
      </p:grp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rcRect b="52300"/>
          <a:stretch/>
        </p:blipFill>
        <p:spPr>
          <a:xfrm>
            <a:off x="563875" y="4147120"/>
            <a:ext cx="5245086" cy="2197958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17" y="1593390"/>
            <a:ext cx="1371687" cy="591508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5"/>
          <a:srcRect l="2082" t="9752" r="49398" b="7540"/>
          <a:stretch/>
        </p:blipFill>
        <p:spPr>
          <a:xfrm>
            <a:off x="1450023" y="2377284"/>
            <a:ext cx="3281298" cy="1599719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A46C4B16-7C6F-4DF0-B9C0-AD2246131F97}"/>
              </a:ext>
            </a:extLst>
          </p:cNvPr>
          <p:cNvCxnSpPr>
            <a:cxnSpLocks/>
            <a:stCxn id="24" idx="3"/>
            <a:endCxn id="23" idx="0"/>
          </p:cNvCxnSpPr>
          <p:nvPr/>
        </p:nvCxnSpPr>
        <p:spPr>
          <a:xfrm>
            <a:off x="2164504" y="1889144"/>
            <a:ext cx="926168" cy="48814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30AF6EE-357C-4DDB-AD32-E2FA1E26FB8B}"/>
              </a:ext>
            </a:extLst>
          </p:cNvPr>
          <p:cNvCxnSpPr>
            <a:stCxn id="23" idx="2"/>
          </p:cNvCxnSpPr>
          <p:nvPr/>
        </p:nvCxnSpPr>
        <p:spPr>
          <a:xfrm>
            <a:off x="3090672" y="3977003"/>
            <a:ext cx="0" cy="12876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2F6737-D535-4A57-B0FF-48DFDCA0295A}"/>
              </a:ext>
            </a:extLst>
          </p:cNvPr>
          <p:cNvSpPr/>
          <p:nvPr/>
        </p:nvSpPr>
        <p:spPr>
          <a:xfrm>
            <a:off x="1571951" y="3438145"/>
            <a:ext cx="1216969" cy="398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AA0CEE8-26D9-4235-8683-D0BAF712075C}"/>
              </a:ext>
            </a:extLst>
          </p:cNvPr>
          <p:cNvSpPr/>
          <p:nvPr/>
        </p:nvSpPr>
        <p:spPr>
          <a:xfrm>
            <a:off x="2147715" y="1580569"/>
            <a:ext cx="168187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①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데이터 분석한 상태에서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683173-8704-4A17-BDC8-ECC0261F29CC}"/>
              </a:ext>
            </a:extLst>
          </p:cNvPr>
          <p:cNvSpPr/>
          <p:nvPr/>
        </p:nvSpPr>
        <p:spPr>
          <a:xfrm>
            <a:off x="2818947" y="3455069"/>
            <a:ext cx="10118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②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클릭 하나로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D1A58F-BA05-44E1-9738-3BFD3DA6B9DB}"/>
              </a:ext>
            </a:extLst>
          </p:cNvPr>
          <p:cNvSpPr/>
          <p:nvPr/>
        </p:nvSpPr>
        <p:spPr>
          <a:xfrm>
            <a:off x="3226205" y="4883035"/>
            <a:ext cx="19543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③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정보 그대로를 가지고 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기획 인사이트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961577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04 · AI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91B26"/>
                </a:solidFill>
                <a:latin typeface="Aptos"/>
              </a:rPr>
              <a:t>AI는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분석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결과를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해석하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고 확장하는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보조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도구로</a:t>
            </a:r>
            <a:r>
              <a:rPr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sz="2500" b="1" dirty="0" err="1">
                <a:solidFill>
                  <a:srgbClr val="191B26"/>
                </a:solidFill>
                <a:latin typeface="Aptos"/>
              </a:rPr>
              <a:t>사용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r="4414"/>
          <a:stretch/>
        </p:blipFill>
        <p:spPr>
          <a:xfrm>
            <a:off x="347473" y="1272119"/>
            <a:ext cx="3932428" cy="1551844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3" y="2983572"/>
            <a:ext cx="3932428" cy="3114124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132" y="2437140"/>
            <a:ext cx="3361691" cy="131463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116" y="3670916"/>
            <a:ext cx="3361691" cy="230140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112" y="735717"/>
            <a:ext cx="2621788" cy="254086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7"/>
          <a:srcRect b="11710"/>
          <a:stretch/>
        </p:blipFill>
        <p:spPr>
          <a:xfrm>
            <a:off x="8451307" y="3248011"/>
            <a:ext cx="2621594" cy="147297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E615AE-DE76-416D-BA51-78728D4F223F}"/>
              </a:ext>
            </a:extLst>
          </p:cNvPr>
          <p:cNvSpPr/>
          <p:nvPr/>
        </p:nvSpPr>
        <p:spPr>
          <a:xfrm>
            <a:off x="354982" y="3276220"/>
            <a:ext cx="3932428" cy="971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6CC2D2-1AEB-4A24-9DF4-6F3CA1241445}"/>
              </a:ext>
            </a:extLst>
          </p:cNvPr>
          <p:cNvSpPr/>
          <p:nvPr/>
        </p:nvSpPr>
        <p:spPr>
          <a:xfrm>
            <a:off x="354982" y="4347728"/>
            <a:ext cx="3932428" cy="1538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AC3922-7C96-4F49-BE8D-76B50C9CE268}"/>
              </a:ext>
            </a:extLst>
          </p:cNvPr>
          <p:cNvSpPr/>
          <p:nvPr/>
        </p:nvSpPr>
        <p:spPr>
          <a:xfrm>
            <a:off x="2563344" y="3639074"/>
            <a:ext cx="15937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②  AI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가 분석 결과를 해석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11B86D-1802-4A43-B002-AFD620D29FEC}"/>
              </a:ext>
            </a:extLst>
          </p:cNvPr>
          <p:cNvSpPr/>
          <p:nvPr/>
        </p:nvSpPr>
        <p:spPr>
          <a:xfrm>
            <a:off x="2189845" y="4879151"/>
            <a:ext cx="19672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③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콘텐츠 기획에 아이디어 제공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53E3C9F-042F-4A90-ACB2-CD40597F6B65}"/>
              </a:ext>
            </a:extLst>
          </p:cNvPr>
          <p:cNvSpPr/>
          <p:nvPr/>
        </p:nvSpPr>
        <p:spPr>
          <a:xfrm>
            <a:off x="2998082" y="2185147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① AI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를 실행시키면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C0ABD43-DD20-4420-A065-AA611BDA7F92}"/>
              </a:ext>
            </a:extLst>
          </p:cNvPr>
          <p:cNvCxnSpPr>
            <a:cxnSpLocks/>
          </p:cNvCxnSpPr>
          <p:nvPr/>
        </p:nvCxnSpPr>
        <p:spPr>
          <a:xfrm>
            <a:off x="2290572" y="2637982"/>
            <a:ext cx="0" cy="430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4004E96-BF9E-4F82-9F70-1795942FB138}"/>
              </a:ext>
            </a:extLst>
          </p:cNvPr>
          <p:cNvSpPr txBox="1"/>
          <p:nvPr/>
        </p:nvSpPr>
        <p:spPr>
          <a:xfrm>
            <a:off x="4855474" y="2341173"/>
            <a:ext cx="21403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댓글 키워드를 </a:t>
            </a:r>
            <a:r>
              <a:rPr lang="en-US" altLang="ko-KR" sz="900" dirty="0">
                <a:highlight>
                  <a:srgbClr val="FFFF00"/>
                </a:highlight>
              </a:rPr>
              <a:t>AI </a:t>
            </a:r>
            <a:r>
              <a:rPr lang="ko-KR" altLang="en-US" sz="900" dirty="0">
                <a:highlight>
                  <a:srgbClr val="FFFF00"/>
                </a:highlight>
              </a:rPr>
              <a:t>입력 데이터로 변환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DE6A42-8CC9-4B3E-A590-F6B54D996E70}"/>
              </a:ext>
            </a:extLst>
          </p:cNvPr>
          <p:cNvSpPr txBox="1"/>
          <p:nvPr/>
        </p:nvSpPr>
        <p:spPr>
          <a:xfrm>
            <a:off x="5128929" y="3541440"/>
            <a:ext cx="2512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 err="1">
                <a:highlight>
                  <a:srgbClr val="FFFF00"/>
                </a:highlight>
              </a:rPr>
              <a:t>주차별</a:t>
            </a:r>
            <a:r>
              <a:rPr lang="ko-KR" altLang="en-US" sz="900" dirty="0">
                <a:highlight>
                  <a:srgbClr val="FFFF00"/>
                </a:highlight>
              </a:rPr>
              <a:t> 분석 데이터를 </a:t>
            </a:r>
            <a:r>
              <a:rPr lang="en-US" altLang="ko-KR" sz="900" dirty="0">
                <a:highlight>
                  <a:srgbClr val="FFFF00"/>
                </a:highlight>
              </a:rPr>
              <a:t>AI </a:t>
            </a:r>
            <a:r>
              <a:rPr lang="ko-KR" altLang="en-US" sz="900" dirty="0">
                <a:highlight>
                  <a:srgbClr val="FFFF00"/>
                </a:highlight>
              </a:rPr>
              <a:t>입력 데이터로 변환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69BD98-4222-4AA9-B4B8-E176830C1CEC}"/>
              </a:ext>
            </a:extLst>
          </p:cNvPr>
          <p:cNvSpPr txBox="1"/>
          <p:nvPr/>
        </p:nvSpPr>
        <p:spPr>
          <a:xfrm>
            <a:off x="8337786" y="559148"/>
            <a:ext cx="20249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실제 분석 데이터를 </a:t>
            </a:r>
            <a:r>
              <a:rPr lang="en-US" altLang="ko-KR" sz="900" dirty="0">
                <a:highlight>
                  <a:srgbClr val="FFFF00"/>
                </a:highlight>
              </a:rPr>
              <a:t>Prompt</a:t>
            </a:r>
            <a:r>
              <a:rPr lang="ko-KR" altLang="en-US" sz="900" dirty="0">
                <a:highlight>
                  <a:srgbClr val="FFFF00"/>
                </a:highlight>
              </a:rPr>
              <a:t>에 입력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E27728-B65E-4122-BEBA-8B4F2BBCBB3B}"/>
              </a:ext>
            </a:extLst>
          </p:cNvPr>
          <p:cNvSpPr txBox="1"/>
          <p:nvPr/>
        </p:nvSpPr>
        <p:spPr>
          <a:xfrm>
            <a:off x="9038463" y="3288140"/>
            <a:ext cx="20730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데이터 밖의 추측</a:t>
            </a:r>
            <a:r>
              <a:rPr lang="en-US" altLang="ko-KR" sz="900" dirty="0">
                <a:highlight>
                  <a:srgbClr val="FFFF00"/>
                </a:highlight>
              </a:rPr>
              <a:t>, </a:t>
            </a:r>
            <a:r>
              <a:rPr lang="ko-KR" altLang="en-US" sz="900" dirty="0">
                <a:highlight>
                  <a:srgbClr val="FFFF00"/>
                </a:highlight>
              </a:rPr>
              <a:t>성과 예측을 제한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2307F7-D318-494A-897D-0BD5E447CEEC}"/>
              </a:ext>
            </a:extLst>
          </p:cNvPr>
          <p:cNvSpPr/>
          <p:nvPr/>
        </p:nvSpPr>
        <p:spPr>
          <a:xfrm>
            <a:off x="8392921" y="3257170"/>
            <a:ext cx="2763738" cy="1452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별: 꼭짓점 5개 5">
            <a:extLst>
              <a:ext uri="{FF2B5EF4-FFF2-40B4-BE49-F238E27FC236}">
                <a16:creationId xmlns:a16="http://schemas.microsoft.com/office/drawing/2014/main" id="{9ED5811B-0AD2-4C9F-BCC1-0E7D20E19D9A}"/>
              </a:ext>
            </a:extLst>
          </p:cNvPr>
          <p:cNvSpPr/>
          <p:nvPr/>
        </p:nvSpPr>
        <p:spPr>
          <a:xfrm>
            <a:off x="9213293" y="3065212"/>
            <a:ext cx="273897" cy="238291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9981" y="4720218"/>
            <a:ext cx="3096057" cy="7240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5E67D92-B513-4AD0-9CA3-ECACBB44FB66}"/>
              </a:ext>
            </a:extLst>
          </p:cNvPr>
          <p:cNvSpPr txBox="1"/>
          <p:nvPr/>
        </p:nvSpPr>
        <p:spPr>
          <a:xfrm>
            <a:off x="10074964" y="4920412"/>
            <a:ext cx="16337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위 </a:t>
            </a:r>
            <a:r>
              <a:rPr lang="en-US" altLang="ko-KR" sz="900" dirty="0">
                <a:highlight>
                  <a:srgbClr val="FFFF00"/>
                </a:highlight>
              </a:rPr>
              <a:t>Prompt</a:t>
            </a:r>
            <a:r>
              <a:rPr lang="ko-KR" altLang="en-US" sz="900" dirty="0">
                <a:highlight>
                  <a:srgbClr val="FFFF00"/>
                </a:highlight>
              </a:rPr>
              <a:t>를 </a:t>
            </a:r>
            <a:r>
              <a:rPr lang="en-US" altLang="ko-KR" sz="900" dirty="0">
                <a:highlight>
                  <a:srgbClr val="FFFF00"/>
                </a:highlight>
              </a:rPr>
              <a:t>AI</a:t>
            </a:r>
            <a:r>
              <a:rPr lang="ko-KR" altLang="en-US" sz="900" dirty="0">
                <a:highlight>
                  <a:srgbClr val="FFFF00"/>
                </a:highlight>
              </a:rPr>
              <a:t>모델에 전달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9"/>
          <a:srcRect b="12537"/>
          <a:stretch/>
        </p:blipFill>
        <p:spPr>
          <a:xfrm>
            <a:off x="8209981" y="5339094"/>
            <a:ext cx="3096057" cy="116648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0428CE1-54BA-4B43-B5EA-3D51AF78F3DD}"/>
              </a:ext>
            </a:extLst>
          </p:cNvPr>
          <p:cNvSpPr txBox="1"/>
          <p:nvPr/>
        </p:nvSpPr>
        <p:spPr>
          <a:xfrm>
            <a:off x="8150842" y="5250834"/>
            <a:ext cx="1778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AI </a:t>
            </a:r>
            <a:r>
              <a:rPr lang="ko-KR" altLang="en-US" sz="900" dirty="0">
                <a:highlight>
                  <a:srgbClr val="FFFF00"/>
                </a:highlight>
              </a:rPr>
              <a:t>응답을 </a:t>
            </a:r>
            <a:r>
              <a:rPr lang="en-US" altLang="ko-KR" sz="900" dirty="0">
                <a:highlight>
                  <a:srgbClr val="FFFF00"/>
                </a:highlight>
              </a:rPr>
              <a:t>JSON </a:t>
            </a:r>
            <a:r>
              <a:rPr lang="ko-KR" altLang="en-US" sz="900" dirty="0">
                <a:highlight>
                  <a:srgbClr val="FFFF00"/>
                </a:highlight>
              </a:rPr>
              <a:t>데이터로 변환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7BA94C-55C0-4390-BCB9-48CEBDFD3A76}"/>
              </a:ext>
            </a:extLst>
          </p:cNvPr>
          <p:cNvSpPr txBox="1"/>
          <p:nvPr/>
        </p:nvSpPr>
        <p:spPr>
          <a:xfrm>
            <a:off x="9118414" y="5759012"/>
            <a:ext cx="1620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결과를 </a:t>
            </a:r>
            <a:r>
              <a:rPr lang="ko-KR" altLang="en-US" sz="900" dirty="0" err="1">
                <a:highlight>
                  <a:srgbClr val="FFFF00"/>
                </a:highlight>
              </a:rPr>
              <a:t>프론트엔드로</a:t>
            </a:r>
            <a:r>
              <a:rPr lang="ko-KR" altLang="en-US" sz="900" dirty="0">
                <a:highlight>
                  <a:srgbClr val="FFFF00"/>
                </a:highlight>
              </a:rPr>
              <a:t> 반환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56A00-3176-49A5-B968-98152E0EFEEC}"/>
              </a:ext>
            </a:extLst>
          </p:cNvPr>
          <p:cNvSpPr txBox="1"/>
          <p:nvPr/>
        </p:nvSpPr>
        <p:spPr>
          <a:xfrm>
            <a:off x="-925077" y="6180285"/>
            <a:ext cx="641644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191B26"/>
                </a:solidFill>
                <a:latin typeface="Aptos"/>
              </a:rPr>
              <a:t>AI</a:t>
            </a:r>
            <a:r>
              <a:rPr lang="ko-KR" altLang="en-US" sz="1000" b="1" dirty="0">
                <a:solidFill>
                  <a:srgbClr val="191B26"/>
                </a:solidFill>
                <a:latin typeface="Aptos"/>
              </a:rPr>
              <a:t>가 새로운 사실을 분석하는 것이 아니라</a:t>
            </a:r>
            <a:endParaRPr lang="en-US" altLang="ko-KR" sz="1000" b="1" dirty="0">
              <a:solidFill>
                <a:srgbClr val="191B26"/>
              </a:solidFill>
              <a:latin typeface="Aptos"/>
            </a:endParaRPr>
          </a:p>
          <a:p>
            <a:pPr algn="ctr"/>
            <a:r>
              <a:rPr lang="ko-KR" altLang="en-US" sz="1000" b="1" dirty="0">
                <a:solidFill>
                  <a:srgbClr val="191B26"/>
                </a:solidFill>
                <a:latin typeface="Aptos"/>
              </a:rPr>
              <a:t>기존 분석 결과를 바탕으로 기획 검토 아이디어를 생성</a:t>
            </a:r>
            <a:endParaRPr lang="en-US" altLang="ko-KR" sz="10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7178AC55-58D1-4E5F-AD10-F535EA05233F}"/>
              </a:ext>
            </a:extLst>
          </p:cNvPr>
          <p:cNvSpPr/>
          <p:nvPr/>
        </p:nvSpPr>
        <p:spPr>
          <a:xfrm>
            <a:off x="4683740" y="1554176"/>
            <a:ext cx="3654046" cy="640080"/>
          </a:xfrm>
          <a:prstGeom prst="roundRect">
            <a:avLst/>
          </a:prstGeom>
          <a:solidFill>
            <a:srgbClr val="0E1020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4D1A88-0812-40BF-851B-B968278C0F00}"/>
              </a:ext>
            </a:extLst>
          </p:cNvPr>
          <p:cNvSpPr txBox="1"/>
          <p:nvPr/>
        </p:nvSpPr>
        <p:spPr>
          <a:xfrm>
            <a:off x="4658562" y="1694401"/>
            <a:ext cx="354335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ptos"/>
              </a:rPr>
              <a:t>CONTENT SIGNAL </a:t>
            </a:r>
            <a:r>
              <a:rPr lang="ko-KR" altLang="en-US" sz="1000" b="1" dirty="0">
                <a:solidFill>
                  <a:schemeClr val="bg1"/>
                </a:solidFill>
                <a:latin typeface="Aptos"/>
              </a:rPr>
              <a:t>분석 데이터 </a:t>
            </a:r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-&gt; Prompt </a:t>
            </a:r>
            <a:r>
              <a:rPr lang="ko-KR" altLang="en-US" sz="1000" b="1" dirty="0">
                <a:solidFill>
                  <a:schemeClr val="bg1"/>
                </a:solidFill>
                <a:latin typeface="Aptos"/>
              </a:rPr>
              <a:t>구성</a:t>
            </a:r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 -&gt;</a:t>
            </a: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 AI </a:t>
            </a:r>
            <a:r>
              <a:rPr lang="ko-KR" altLang="en-US" sz="1000" b="1" dirty="0">
                <a:solidFill>
                  <a:schemeClr val="bg1"/>
                </a:solidFill>
                <a:latin typeface="Aptos"/>
              </a:rPr>
              <a:t>모델 </a:t>
            </a:r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-&gt; JSON </a:t>
            </a:r>
            <a:r>
              <a:rPr lang="ko-KR" altLang="en-US" sz="1000" b="1" dirty="0">
                <a:solidFill>
                  <a:schemeClr val="bg1"/>
                </a:solidFill>
                <a:latin typeface="Aptos"/>
              </a:rPr>
              <a:t>결과 </a:t>
            </a:r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-&gt; </a:t>
            </a:r>
            <a:r>
              <a:rPr lang="ko-KR" altLang="en-US" sz="1000" b="1" dirty="0">
                <a:solidFill>
                  <a:schemeClr val="bg1"/>
                </a:solidFill>
                <a:latin typeface="Aptos"/>
              </a:rPr>
              <a:t>기획 아이디어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85014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0A433F86-8670-4495-A0DC-1D8A0F718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18" y="1855028"/>
            <a:ext cx="3560308" cy="2041780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04 · BUSINESS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19929"/>
            <a:ext cx="111556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분석한 콘텐츠를 광고</a:t>
            </a:r>
            <a:r>
              <a:rPr lang="en-US" altLang="ko-KR" sz="2800" dirty="0"/>
              <a:t>·</a:t>
            </a:r>
            <a:r>
              <a:rPr lang="en-US" altLang="ko-KR" sz="2500" b="1" dirty="0">
                <a:solidFill>
                  <a:srgbClr val="191B26"/>
                </a:solidFill>
                <a:latin typeface="Aptos"/>
              </a:rPr>
              <a:t> 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협찬 검토로 확장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18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9A6E393-EBE3-4251-9D1A-FCBE3D4E741F}"/>
              </a:ext>
            </a:extLst>
          </p:cNvPr>
          <p:cNvGrpSpPr/>
          <p:nvPr/>
        </p:nvGrpSpPr>
        <p:grpSpPr>
          <a:xfrm>
            <a:off x="856097" y="1411763"/>
            <a:ext cx="3102292" cy="436291"/>
            <a:chOff x="898630" y="1411763"/>
            <a:chExt cx="2259238" cy="436291"/>
          </a:xfrm>
        </p:grpSpPr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E4BA4FDB-A856-485E-AE59-C121DEA77545}"/>
                </a:ext>
              </a:extLst>
            </p:cNvPr>
            <p:cNvSpPr/>
            <p:nvPr/>
          </p:nvSpPr>
          <p:spPr>
            <a:xfrm>
              <a:off x="898630" y="1411763"/>
              <a:ext cx="2259238" cy="274320"/>
            </a:xfrm>
            <a:prstGeom prst="roundRect">
              <a:avLst/>
            </a:prstGeom>
            <a:solidFill>
              <a:srgbClr val="272841"/>
            </a:solidFill>
            <a:ln>
              <a:solidFill>
                <a:srgbClr val="2728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D1A78D-AAE4-4575-A3B7-1B77A689D70D}"/>
                </a:ext>
              </a:extLst>
            </p:cNvPr>
            <p:cNvSpPr txBox="1"/>
            <p:nvPr/>
          </p:nvSpPr>
          <p:spPr>
            <a:xfrm>
              <a:off x="992650" y="1417167"/>
              <a:ext cx="2071198" cy="4308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A9A0FF"/>
                  </a:solidFill>
                  <a:latin typeface="Aptos"/>
                </a:rPr>
                <a:t>CONTENT -&gt; BUSINESS (</a:t>
              </a:r>
              <a:r>
                <a:rPr lang="ko-KR" altLang="en-US" sz="1100" b="1" dirty="0">
                  <a:solidFill>
                    <a:srgbClr val="A9A0FF"/>
                  </a:solidFill>
                  <a:latin typeface="Aptos"/>
                </a:rPr>
                <a:t>콘텐츠 관점</a:t>
              </a:r>
              <a:r>
                <a:rPr lang="en-US" altLang="ko-KR" sz="1100" b="1" dirty="0">
                  <a:solidFill>
                    <a:srgbClr val="A9A0FF"/>
                  </a:solidFill>
                  <a:latin typeface="Aptos"/>
                </a:rPr>
                <a:t>)</a:t>
              </a:r>
              <a:endParaRPr sz="1100" b="1" dirty="0">
                <a:solidFill>
                  <a:srgbClr val="A9A0FF"/>
                </a:solidFill>
                <a:latin typeface="Aptos"/>
              </a:endParaRPr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40E4B1D8-37F7-41EA-9D64-3E3FBCEDC1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08" t="14456" r="2755" b="13248"/>
          <a:stretch/>
        </p:blipFill>
        <p:spPr>
          <a:xfrm>
            <a:off x="857294" y="3999279"/>
            <a:ext cx="3643156" cy="1572903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CB6E568-ABD8-4D2A-80FF-30636B9C5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809" y="3333689"/>
            <a:ext cx="5473563" cy="2625975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470CD82-52C0-49D3-A3DB-C1C69D83DEC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14" t="5894" r="3830" b="6495"/>
          <a:stretch/>
        </p:blipFill>
        <p:spPr>
          <a:xfrm>
            <a:off x="5925312" y="1686082"/>
            <a:ext cx="4475839" cy="1919775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BA524C-535D-45C1-91AE-BC7138D8F0D6}"/>
              </a:ext>
            </a:extLst>
          </p:cNvPr>
          <p:cNvSpPr/>
          <p:nvPr/>
        </p:nvSpPr>
        <p:spPr>
          <a:xfrm>
            <a:off x="2197848" y="3056829"/>
            <a:ext cx="12971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①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분석한 콘텐츠를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E5645B5-5FFB-4850-B8FB-C8B9D2324BC0}"/>
              </a:ext>
            </a:extLst>
          </p:cNvPr>
          <p:cNvSpPr/>
          <p:nvPr/>
        </p:nvSpPr>
        <p:spPr>
          <a:xfrm>
            <a:off x="951795" y="5112091"/>
            <a:ext cx="1216969" cy="398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13BEEC7-9212-403A-8E23-E2B61A857094}"/>
              </a:ext>
            </a:extLst>
          </p:cNvPr>
          <p:cNvSpPr/>
          <p:nvPr/>
        </p:nvSpPr>
        <p:spPr>
          <a:xfrm>
            <a:off x="2263265" y="5112481"/>
            <a:ext cx="20826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②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클릭 하나로 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비즈니스 페이지에 그대로 전달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A04862-6E61-4B97-823B-35B444906FDA}"/>
              </a:ext>
            </a:extLst>
          </p:cNvPr>
          <p:cNvSpPr/>
          <p:nvPr/>
        </p:nvSpPr>
        <p:spPr>
          <a:xfrm>
            <a:off x="8686081" y="2328404"/>
            <a:ext cx="22044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③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다시 검색하지 않고 바로 가져와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여기도 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AI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활용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BA6CFD6-F148-4D96-9900-32B1BD5D6A41}"/>
              </a:ext>
            </a:extLst>
          </p:cNvPr>
          <p:cNvSpPr/>
          <p:nvPr/>
        </p:nvSpPr>
        <p:spPr>
          <a:xfrm>
            <a:off x="5466233" y="4429942"/>
            <a:ext cx="2541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④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분석된 데이터를 바탕으로 </a:t>
            </a:r>
            <a:endParaRPr lang="en-US" altLang="ko-KR" sz="1000" b="1" dirty="0">
              <a:solidFill>
                <a:srgbClr val="FF0000"/>
              </a:solidFill>
              <a:latin typeface="Aptos"/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   AI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광고</a:t>
            </a:r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협찬 검토 카테고리와 이유 제시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BD1B45-5EE0-43CB-B3C0-5BD3D1B195BA}"/>
              </a:ext>
            </a:extLst>
          </p:cNvPr>
          <p:cNvSpPr txBox="1"/>
          <p:nvPr/>
        </p:nvSpPr>
        <p:spPr>
          <a:xfrm>
            <a:off x="438912" y="1040637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CONTENT SIGNAL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에서 확인한 타깃</a:t>
            </a:r>
            <a:r>
              <a:rPr lang="en-US" altLang="ko-KR" sz="1000" dirty="0"/>
              <a:t>·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 디지털 반응을 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BUSINESS SIGNAL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로 연결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12D91A6-6CC6-450E-AE4D-2CCDC25840E1}"/>
              </a:ext>
            </a:extLst>
          </p:cNvPr>
          <p:cNvSpPr/>
          <p:nvPr/>
        </p:nvSpPr>
        <p:spPr>
          <a:xfrm>
            <a:off x="5383385" y="3747913"/>
            <a:ext cx="5152209" cy="5307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Rounded Rectangle 18">
            <a:extLst>
              <a:ext uri="{FF2B5EF4-FFF2-40B4-BE49-F238E27FC236}">
                <a16:creationId xmlns:a16="http://schemas.microsoft.com/office/drawing/2014/main" id="{471A9714-B7F6-4ACF-9D5C-0285AAD37F2E}"/>
              </a:ext>
            </a:extLst>
          </p:cNvPr>
          <p:cNvSpPr/>
          <p:nvPr/>
        </p:nvSpPr>
        <p:spPr>
          <a:xfrm>
            <a:off x="751408" y="5697991"/>
            <a:ext cx="4104121" cy="640080"/>
          </a:xfrm>
          <a:prstGeom prst="roundRect">
            <a:avLst/>
          </a:prstGeom>
          <a:solidFill>
            <a:srgbClr val="0E1020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D58974-53F6-4EBC-9257-C8A1BF18E051}"/>
              </a:ext>
            </a:extLst>
          </p:cNvPr>
          <p:cNvSpPr txBox="1"/>
          <p:nvPr/>
        </p:nvSpPr>
        <p:spPr>
          <a:xfrm>
            <a:off x="862100" y="5817976"/>
            <a:ext cx="388273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콘텐츠 분석에서 출발 </a:t>
            </a:r>
            <a:endParaRPr lang="en-US" altLang="ko-KR" sz="10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 “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이 콘텐츠를 어디에 활용할 수 있을까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?”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01760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04 · BUSINESS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19929"/>
            <a:ext cx="772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광고주 조건을 분석 기준으로 변환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18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6" y="1741588"/>
            <a:ext cx="5108309" cy="3734498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AE5B280-0F28-4D3E-BA77-597A43B06BD6}"/>
              </a:ext>
            </a:extLst>
          </p:cNvPr>
          <p:cNvGrpSpPr/>
          <p:nvPr/>
        </p:nvGrpSpPr>
        <p:grpSpPr>
          <a:xfrm>
            <a:off x="432766" y="1329807"/>
            <a:ext cx="3477497" cy="289943"/>
            <a:chOff x="927612" y="1146196"/>
            <a:chExt cx="2560516" cy="289943"/>
          </a:xfrm>
        </p:grpSpPr>
        <p:sp>
          <p:nvSpPr>
            <p:cNvPr id="21" name="Rounded Rectangle 5">
              <a:extLst>
                <a:ext uri="{FF2B5EF4-FFF2-40B4-BE49-F238E27FC236}">
                  <a16:creationId xmlns:a16="http://schemas.microsoft.com/office/drawing/2014/main" id="{0E04AFF6-0E39-444C-86A2-E1C9A3724C4C}"/>
                </a:ext>
              </a:extLst>
            </p:cNvPr>
            <p:cNvSpPr/>
            <p:nvPr/>
          </p:nvSpPr>
          <p:spPr>
            <a:xfrm>
              <a:off x="933287" y="1169381"/>
              <a:ext cx="2510199" cy="261610"/>
            </a:xfrm>
            <a:prstGeom prst="roundRect">
              <a:avLst/>
            </a:prstGeom>
            <a:solidFill>
              <a:srgbClr val="272841"/>
            </a:solidFill>
            <a:ln>
              <a:solidFill>
                <a:srgbClr val="2728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31F856-ABC5-403C-AC96-AACC471D56C0}"/>
                </a:ext>
              </a:extLst>
            </p:cNvPr>
            <p:cNvSpPr txBox="1"/>
            <p:nvPr/>
          </p:nvSpPr>
          <p:spPr>
            <a:xfrm>
              <a:off x="1064561" y="1174529"/>
              <a:ext cx="2423567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A9A0FF"/>
                  </a:solidFill>
                  <a:latin typeface="Aptos"/>
                </a:rPr>
                <a:t>ADVERTISER -&gt; CONTENT (</a:t>
              </a:r>
              <a:r>
                <a:rPr lang="ko-KR" altLang="en-US" sz="1100" b="1" dirty="0">
                  <a:solidFill>
                    <a:srgbClr val="A9A0FF"/>
                  </a:solidFill>
                  <a:latin typeface="Aptos"/>
                </a:rPr>
                <a:t>광고주 관점</a:t>
              </a:r>
              <a:r>
                <a:rPr lang="en-US" altLang="ko-KR" sz="1100" b="1" dirty="0">
                  <a:solidFill>
                    <a:srgbClr val="A9A0FF"/>
                  </a:solidFill>
                  <a:latin typeface="Aptos"/>
                </a:rPr>
                <a:t>)</a:t>
              </a:r>
              <a:endParaRPr sz="1100" b="1" dirty="0">
                <a:solidFill>
                  <a:srgbClr val="A9A0FF"/>
                </a:solidFill>
                <a:latin typeface="Aptos"/>
              </a:endParaRPr>
            </a:p>
          </p:txBody>
        </p:sp>
        <p:sp>
          <p:nvSpPr>
            <p:cNvPr id="47" name="별: 꼭짓점 5개 46">
              <a:extLst>
                <a:ext uri="{FF2B5EF4-FFF2-40B4-BE49-F238E27FC236}">
                  <a16:creationId xmlns:a16="http://schemas.microsoft.com/office/drawing/2014/main" id="{B23BC73C-43DA-47DD-868E-79144840D31E}"/>
                </a:ext>
              </a:extLst>
            </p:cNvPr>
            <p:cNvSpPr/>
            <p:nvPr/>
          </p:nvSpPr>
          <p:spPr>
            <a:xfrm>
              <a:off x="927612" y="1146196"/>
              <a:ext cx="273897" cy="246221"/>
            </a:xfrm>
            <a:prstGeom prst="star5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C8437BAB-EE33-4294-89B0-D8AB91F3CD8C}"/>
              </a:ext>
            </a:extLst>
          </p:cNvPr>
          <p:cNvSpPr/>
          <p:nvPr/>
        </p:nvSpPr>
        <p:spPr>
          <a:xfrm>
            <a:off x="956950" y="5652308"/>
            <a:ext cx="4104121" cy="640080"/>
          </a:xfrm>
          <a:prstGeom prst="roundRect">
            <a:avLst/>
          </a:prstGeom>
          <a:solidFill>
            <a:srgbClr val="0E1020"/>
          </a:solidFill>
          <a:ln>
            <a:solidFill>
              <a:srgbClr val="0E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8510EB-9775-4433-A405-138052AC4F99}"/>
              </a:ext>
            </a:extLst>
          </p:cNvPr>
          <p:cNvSpPr txBox="1"/>
          <p:nvPr/>
        </p:nvSpPr>
        <p:spPr>
          <a:xfrm>
            <a:off x="979061" y="5772293"/>
            <a:ext cx="388273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광고 조건에서 출발</a:t>
            </a:r>
            <a:endParaRPr lang="en-US" altLang="ko-KR" sz="10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 “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내 조건에는 어떤 콘텐츠를 검토할 수 있을까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?”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BA1C44-C327-4B57-88ED-D4DF58B0A6B2}"/>
              </a:ext>
            </a:extLst>
          </p:cNvPr>
          <p:cNvSpPr txBox="1"/>
          <p:nvPr/>
        </p:nvSpPr>
        <p:spPr>
          <a:xfrm>
            <a:off x="438912" y="1040637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광고주가 조건을 선택하면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, </a:t>
            </a:r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해당 조건을 실제 데이터 컬럼과 분석 가중치로 변환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64C10B76-2923-4275-B501-D5E3B4BAE0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196"/>
          <a:stretch/>
        </p:blipFill>
        <p:spPr>
          <a:xfrm>
            <a:off x="5912515" y="1662131"/>
            <a:ext cx="2688405" cy="1343491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1330989-8178-4950-B818-81A6735B4E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665" b="43533"/>
          <a:stretch/>
        </p:blipFill>
        <p:spPr>
          <a:xfrm>
            <a:off x="5898319" y="3127316"/>
            <a:ext cx="2688405" cy="201104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2C313FF-A95A-4F32-82ED-B1ACFAE35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426" y="1069843"/>
            <a:ext cx="2612027" cy="490250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0C98FFC-6B09-4E8C-918A-DFC7230EB412}"/>
              </a:ext>
            </a:extLst>
          </p:cNvPr>
          <p:cNvSpPr/>
          <p:nvPr/>
        </p:nvSpPr>
        <p:spPr>
          <a:xfrm>
            <a:off x="532467" y="3231381"/>
            <a:ext cx="4908906" cy="754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002B29F-B67E-4CCC-BCC5-BF52B31351C6}"/>
              </a:ext>
            </a:extLst>
          </p:cNvPr>
          <p:cNvSpPr/>
          <p:nvPr/>
        </p:nvSpPr>
        <p:spPr>
          <a:xfrm>
            <a:off x="4069312" y="2973659"/>
            <a:ext cx="7264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조건 입력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52BB81E-AC3E-4123-8438-9D4AE321ED2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4861798" y="2333877"/>
            <a:ext cx="1050717" cy="8975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77D89D6-D4A1-4A18-9616-39E98814B8C6}"/>
              </a:ext>
            </a:extLst>
          </p:cNvPr>
          <p:cNvSpPr/>
          <p:nvPr/>
        </p:nvSpPr>
        <p:spPr>
          <a:xfrm>
            <a:off x="532467" y="4162515"/>
            <a:ext cx="4908906" cy="754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DFDC098-5A3D-4B08-9D63-8C49A752D354}"/>
              </a:ext>
            </a:extLst>
          </p:cNvPr>
          <p:cNvSpPr/>
          <p:nvPr/>
        </p:nvSpPr>
        <p:spPr>
          <a:xfrm>
            <a:off x="4308757" y="4291357"/>
            <a:ext cx="10887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Aptos"/>
              </a:rPr>
              <a:t> </a:t>
            </a:r>
            <a:r>
              <a:rPr lang="ko-KR" altLang="en-US" sz="1000" b="1" dirty="0">
                <a:solidFill>
                  <a:srgbClr val="FF0000"/>
                </a:solidFill>
                <a:latin typeface="Aptos"/>
              </a:rPr>
              <a:t>중요 지표 선택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F61456E-DE89-4E4C-9584-41187E3829E9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5441373" y="3603857"/>
            <a:ext cx="3713260" cy="9361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F658678-3D1C-4F8F-A6D4-54B651A7E46C}"/>
              </a:ext>
            </a:extLst>
          </p:cNvPr>
          <p:cNvSpPr txBox="1"/>
          <p:nvPr/>
        </p:nvSpPr>
        <p:spPr>
          <a:xfrm>
            <a:off x="5799256" y="1485868"/>
            <a:ext cx="21339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광고주가 선택한 조건을 함수로 전달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250E46-0CDD-47B5-9318-D799CD019AC4}"/>
              </a:ext>
            </a:extLst>
          </p:cNvPr>
          <p:cNvSpPr txBox="1"/>
          <p:nvPr/>
        </p:nvSpPr>
        <p:spPr>
          <a:xfrm>
            <a:off x="5672643" y="2989048"/>
            <a:ext cx="30476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사용자가 선택한 연령</a:t>
            </a:r>
            <a:r>
              <a:rPr lang="en-US" altLang="ko-KR" sz="900" dirty="0">
                <a:highlight>
                  <a:srgbClr val="FFFF00"/>
                </a:highlight>
              </a:rPr>
              <a:t>, </a:t>
            </a:r>
            <a:r>
              <a:rPr lang="ko-KR" altLang="en-US" sz="900" dirty="0">
                <a:highlight>
                  <a:srgbClr val="FFFF00"/>
                </a:highlight>
              </a:rPr>
              <a:t>성별을 실제 데이터 컬럼과 연결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BA9858-5E8F-4481-AB16-E04193AF1732}"/>
              </a:ext>
            </a:extLst>
          </p:cNvPr>
          <p:cNvSpPr txBox="1"/>
          <p:nvPr/>
        </p:nvSpPr>
        <p:spPr>
          <a:xfrm>
            <a:off x="8600920" y="1063743"/>
            <a:ext cx="22749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체크한 중요 지표를 분석 가중치에 반영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2FB42C-1080-48AF-B0D8-FFB7B65747F9}"/>
              </a:ext>
            </a:extLst>
          </p:cNvPr>
          <p:cNvSpPr txBox="1"/>
          <p:nvPr/>
        </p:nvSpPr>
        <p:spPr>
          <a:xfrm>
            <a:off x="8621006" y="3668601"/>
            <a:ext cx="27622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캠페인 목적에 따라 지표의 중요도를 다르게 설정</a:t>
            </a:r>
          </a:p>
        </p:txBody>
      </p:sp>
    </p:spTree>
    <p:extLst>
      <p:ext uri="{BB962C8B-B14F-4D97-AF65-F5344CB8AC3E}">
        <p14:creationId xmlns:p14="http://schemas.microsoft.com/office/powerpoint/2010/main" val="4278267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04 · BUSINESS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19929"/>
            <a:ext cx="772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조건을 이용해 후보 비교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18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8510EB-9775-4433-A405-138052AC4F99}"/>
              </a:ext>
            </a:extLst>
          </p:cNvPr>
          <p:cNvSpPr txBox="1"/>
          <p:nvPr/>
        </p:nvSpPr>
        <p:spPr>
          <a:xfrm>
            <a:off x="790484" y="5817976"/>
            <a:ext cx="388273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광고 조건에서 출발</a:t>
            </a:r>
            <a:endParaRPr lang="en-US" altLang="ko-KR" sz="10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 “</a:t>
            </a:r>
            <a:r>
              <a:rPr lang="ko-KR" altLang="en-US" sz="1000" b="1" dirty="0">
                <a:solidFill>
                  <a:srgbClr val="FFFFFF"/>
                </a:solidFill>
                <a:latin typeface="Aptos"/>
              </a:rPr>
              <a:t>내 조건에는 어떤 콘텐츠를 검토할 수 있을까</a:t>
            </a:r>
            <a:r>
              <a:rPr lang="en-US" altLang="ko-KR" sz="1000" b="1" dirty="0">
                <a:solidFill>
                  <a:srgbClr val="FFFFFF"/>
                </a:solidFill>
                <a:latin typeface="Aptos"/>
              </a:rPr>
              <a:t>?”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BA1C44-C327-4B57-88ED-D4DF58B0A6B2}"/>
              </a:ext>
            </a:extLst>
          </p:cNvPr>
          <p:cNvSpPr txBox="1"/>
          <p:nvPr/>
        </p:nvSpPr>
        <p:spPr>
          <a:xfrm>
            <a:off x="438912" y="1040637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0667C"/>
                </a:solidFill>
                <a:latin typeface="Aptos"/>
              </a:rPr>
              <a:t>동일한 기준에서 비교할 수 있도록 상대 위치를 계산하고</a:t>
            </a:r>
            <a:r>
              <a:rPr lang="en-US" altLang="ko-KR" sz="1000" b="0" dirty="0">
                <a:solidFill>
                  <a:srgbClr val="60667C"/>
                </a:solidFill>
                <a:latin typeface="Aptos"/>
              </a:rPr>
              <a:t>, </a:t>
            </a:r>
          </a:p>
          <a:p>
            <a:pPr algn="l"/>
            <a:r>
              <a:rPr lang="ko-KR" altLang="en-US" sz="1000" dirty="0">
                <a:solidFill>
                  <a:srgbClr val="60667C"/>
                </a:solidFill>
                <a:latin typeface="Aptos"/>
              </a:rPr>
              <a:t>선택 조건의 중요도를 반영한 후보 탐색 지수를 만들어 후보를 정렬</a:t>
            </a:r>
            <a:endParaRPr sz="1000" b="0" dirty="0">
              <a:solidFill>
                <a:srgbClr val="60667C"/>
              </a:solidFill>
              <a:latin typeface="Aptos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77DE775-ED95-4942-AF19-D6C88F9702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127"/>
          <a:stretch/>
        </p:blipFill>
        <p:spPr>
          <a:xfrm>
            <a:off x="5945926" y="1040637"/>
            <a:ext cx="2991679" cy="12367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88D94F4-2831-4C3C-BB9F-5C3C1257CB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1"/>
          <a:stretch/>
        </p:blipFill>
        <p:spPr>
          <a:xfrm>
            <a:off x="398503" y="1588168"/>
            <a:ext cx="4598799" cy="4398631"/>
          </a:xfrm>
          <a:prstGeom prst="rect">
            <a:avLst/>
          </a:prstGeom>
          <a:ln w="3175">
            <a:solidFill>
              <a:schemeClr val="tx1"/>
            </a:solidFill>
          </a:ln>
          <a:effectLst/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A101A24-498E-4C40-A0D4-79FE0FA44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7605" y="1040637"/>
            <a:ext cx="2463911" cy="22740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98C2B38-7D72-427D-95F5-8A9D11875141}"/>
              </a:ext>
            </a:extLst>
          </p:cNvPr>
          <p:cNvSpPr txBox="1"/>
          <p:nvPr/>
        </p:nvSpPr>
        <p:spPr>
          <a:xfrm>
            <a:off x="5857695" y="871201"/>
            <a:ext cx="26725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 </a:t>
            </a:r>
            <a:r>
              <a:rPr lang="ko-KR" altLang="en-US" sz="900" dirty="0">
                <a:highlight>
                  <a:srgbClr val="FFFF00"/>
                </a:highlight>
              </a:rPr>
              <a:t>전체 프로그램 내 선택 타깃의 상대적 위치 계산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1874114-9FDE-4FE3-B899-46FDB5CCB6B6}"/>
              </a:ext>
            </a:extLst>
          </p:cNvPr>
          <p:cNvGrpSpPr/>
          <p:nvPr/>
        </p:nvGrpSpPr>
        <p:grpSpPr>
          <a:xfrm>
            <a:off x="5956559" y="1844712"/>
            <a:ext cx="4109775" cy="4282927"/>
            <a:chOff x="5956559" y="1844712"/>
            <a:chExt cx="4109775" cy="4282927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3242D040-E78E-4C2F-8EC3-7C2F3BBA10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13866"/>
            <a:stretch/>
          </p:blipFill>
          <p:spPr>
            <a:xfrm>
              <a:off x="5956559" y="2218774"/>
              <a:ext cx="2996724" cy="3908865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E0DA3AA-D31D-45F6-9D99-D0832B281466}"/>
                </a:ext>
              </a:extLst>
            </p:cNvPr>
            <p:cNvSpPr/>
            <p:nvPr/>
          </p:nvSpPr>
          <p:spPr>
            <a:xfrm>
              <a:off x="6066310" y="2277422"/>
              <a:ext cx="2860662" cy="37093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0CF0485-6F08-401D-8009-E93159BDF945}"/>
                </a:ext>
              </a:extLst>
            </p:cNvPr>
            <p:cNvSpPr txBox="1"/>
            <p:nvPr/>
          </p:nvSpPr>
          <p:spPr>
            <a:xfrm>
              <a:off x="6759018" y="1844712"/>
              <a:ext cx="33073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highlight>
                    <a:srgbClr val="FFFF00"/>
                  </a:highlight>
                </a:rPr>
                <a:t>//AGE, GENDER, DIGITAL, TV</a:t>
              </a:r>
              <a:r>
                <a:rPr lang="ko-KR" altLang="en-US" sz="900" dirty="0">
                  <a:highlight>
                    <a:srgbClr val="FFFF00"/>
                  </a:highlight>
                </a:rPr>
                <a:t>를 각각</a:t>
              </a:r>
              <a:r>
                <a:rPr lang="en-US" altLang="ko-KR" sz="900" dirty="0">
                  <a:highlight>
                    <a:srgbClr val="FFFF00"/>
                  </a:highlight>
                </a:rPr>
                <a:t> percentile </a:t>
              </a:r>
              <a:r>
                <a:rPr lang="ko-KR" altLang="en-US" sz="900" dirty="0">
                  <a:highlight>
                    <a:srgbClr val="FFFF00"/>
                  </a:highlight>
                </a:rPr>
                <a:t>로 변환</a:t>
              </a:r>
              <a:endParaRPr lang="en-US" altLang="ko-KR" sz="900" dirty="0">
                <a:highlight>
                  <a:srgbClr val="FFFF00"/>
                </a:highlight>
              </a:endParaRPr>
            </a:p>
            <a:p>
              <a:r>
                <a:rPr lang="en-US" altLang="ko-KR" sz="900" dirty="0">
                  <a:highlight>
                    <a:srgbClr val="FFFF00"/>
                  </a:highlight>
                </a:rPr>
                <a:t>//</a:t>
              </a:r>
              <a:r>
                <a:rPr lang="ko-KR" altLang="en-US" sz="900" dirty="0">
                  <a:highlight>
                    <a:srgbClr val="FFFF00"/>
                  </a:highlight>
                </a:rPr>
                <a:t>서로 다른 단위의 지표를 </a:t>
              </a:r>
              <a:r>
                <a:rPr lang="en-US" altLang="ko-KR" sz="900" dirty="0">
                  <a:highlight>
                    <a:srgbClr val="FFFF00"/>
                  </a:highlight>
                </a:rPr>
                <a:t>0~100</a:t>
              </a:r>
              <a:r>
                <a:rPr lang="ko-KR" altLang="en-US" sz="900" dirty="0">
                  <a:highlight>
                    <a:srgbClr val="FFFF00"/>
                  </a:highlight>
                </a:rPr>
                <a:t>의 동일한 상대 기준으로 변환</a:t>
              </a:r>
              <a:endParaRPr lang="en-US" altLang="ko-KR" sz="900" dirty="0">
                <a:highlight>
                  <a:srgbClr val="FFFF00"/>
                </a:highlight>
              </a:endParaRPr>
            </a:p>
          </p:txBody>
        </p:sp>
      </p:grpSp>
      <p:sp>
        <p:nvSpPr>
          <p:cNvPr id="28" name="별: 꼭짓점 5개 27">
            <a:extLst>
              <a:ext uri="{FF2B5EF4-FFF2-40B4-BE49-F238E27FC236}">
                <a16:creationId xmlns:a16="http://schemas.microsoft.com/office/drawing/2014/main" id="{F8D9F012-BD0A-44AD-A6BC-C1509D329157}"/>
              </a:ext>
            </a:extLst>
          </p:cNvPr>
          <p:cNvSpPr/>
          <p:nvPr/>
        </p:nvSpPr>
        <p:spPr>
          <a:xfrm>
            <a:off x="5857695" y="2162373"/>
            <a:ext cx="296608" cy="246221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65E2E8-2F22-430D-9CE8-D0021AE7A14A}"/>
              </a:ext>
            </a:extLst>
          </p:cNvPr>
          <p:cNvSpPr txBox="1"/>
          <p:nvPr/>
        </p:nvSpPr>
        <p:spPr>
          <a:xfrm>
            <a:off x="7509513" y="5755967"/>
            <a:ext cx="27350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</a:t>
            </a:r>
            <a:r>
              <a:rPr lang="ko-KR" altLang="en-US" sz="900" dirty="0">
                <a:highlight>
                  <a:srgbClr val="FFFF00"/>
                </a:highlight>
              </a:rPr>
              <a:t>상대 위치 </a:t>
            </a:r>
            <a:r>
              <a:rPr lang="en-US" altLang="ko-KR" sz="900" dirty="0">
                <a:highlight>
                  <a:srgbClr val="FFFF00"/>
                </a:highlight>
              </a:rPr>
              <a:t>X </a:t>
            </a:r>
            <a:r>
              <a:rPr lang="ko-KR" altLang="en-US" sz="900" dirty="0" err="1">
                <a:highlight>
                  <a:srgbClr val="FFFF00"/>
                </a:highlight>
              </a:rPr>
              <a:t>조건별</a:t>
            </a:r>
            <a:r>
              <a:rPr lang="ko-KR" altLang="en-US" sz="900" dirty="0">
                <a:highlight>
                  <a:srgbClr val="FFFF00"/>
                </a:highlight>
              </a:rPr>
              <a:t> 가중치 </a:t>
            </a:r>
            <a:r>
              <a:rPr lang="en-US" altLang="ko-KR" sz="900" dirty="0">
                <a:highlight>
                  <a:srgbClr val="FFFF00"/>
                </a:highlight>
              </a:rPr>
              <a:t>-&gt; </a:t>
            </a:r>
            <a:r>
              <a:rPr lang="ko-KR" altLang="en-US" sz="900" dirty="0">
                <a:highlight>
                  <a:srgbClr val="FFFF00"/>
                </a:highlight>
              </a:rPr>
              <a:t>후보 탐색 지수 계산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8F0B4FA-6D15-4A7D-BD2D-5939070F9703}"/>
              </a:ext>
            </a:extLst>
          </p:cNvPr>
          <p:cNvSpPr/>
          <p:nvPr/>
        </p:nvSpPr>
        <p:spPr>
          <a:xfrm>
            <a:off x="6759018" y="2488683"/>
            <a:ext cx="1311093" cy="311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37586C-CB36-4791-85A3-DBF50D2AD12C}"/>
              </a:ext>
            </a:extLst>
          </p:cNvPr>
          <p:cNvSpPr txBox="1"/>
          <p:nvPr/>
        </p:nvSpPr>
        <p:spPr>
          <a:xfrm>
            <a:off x="8963916" y="3814255"/>
            <a:ext cx="253146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</a:t>
            </a:r>
            <a:r>
              <a:rPr lang="ko-KR" altLang="en-US" sz="900" dirty="0">
                <a:highlight>
                  <a:srgbClr val="FFFF00"/>
                </a:highlight>
              </a:rPr>
              <a:t>서로 단위가 다른 시청률과 동영상 조회수를 </a:t>
            </a:r>
            <a:endParaRPr lang="en-US" altLang="ko-KR" sz="900" dirty="0">
              <a:highlight>
                <a:srgbClr val="FFFF00"/>
              </a:highlight>
            </a:endParaRPr>
          </a:p>
          <a:p>
            <a:r>
              <a:rPr lang="ko-KR" altLang="en-US" sz="900" dirty="0">
                <a:highlight>
                  <a:srgbClr val="FFFF00"/>
                </a:highlight>
              </a:rPr>
              <a:t>그대로 더하지 않고</a:t>
            </a:r>
            <a:endParaRPr lang="en-US" altLang="ko-KR" sz="900" dirty="0">
              <a:highlight>
                <a:srgbClr val="FFFF00"/>
              </a:highlight>
            </a:endParaRPr>
          </a:p>
          <a:p>
            <a:r>
              <a:rPr lang="ko-KR" altLang="en-US" sz="900" dirty="0">
                <a:highlight>
                  <a:srgbClr val="FFFF00"/>
                </a:highlight>
              </a:rPr>
              <a:t>먼저 전체 프로그램 내 상대위치로 변환</a:t>
            </a:r>
            <a:endParaRPr lang="en-US" altLang="ko-KR" sz="900" dirty="0">
              <a:highlight>
                <a:srgbClr val="FFFF00"/>
              </a:highlight>
            </a:endParaRPr>
          </a:p>
          <a:p>
            <a:r>
              <a:rPr lang="ko-KR" altLang="en-US" sz="900" dirty="0">
                <a:highlight>
                  <a:srgbClr val="FFFF00"/>
                </a:highlight>
              </a:rPr>
              <a:t>그 다음 광고주가 선택한 조건의 중요도를 반영</a:t>
            </a:r>
            <a:endParaRPr lang="en-US" altLang="ko-KR" sz="900" dirty="0">
              <a:highlight>
                <a:srgbClr val="FFFF00"/>
              </a:highlight>
            </a:endParaRPr>
          </a:p>
          <a:p>
            <a:r>
              <a:rPr lang="ko-KR" altLang="en-US" sz="900" dirty="0">
                <a:highlight>
                  <a:srgbClr val="FFFF00"/>
                </a:highlight>
              </a:rPr>
              <a:t>하나의 후보 탐색 지수를 계산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71CD2D8-F96B-4EE0-B184-3E26B05A3801}"/>
              </a:ext>
            </a:extLst>
          </p:cNvPr>
          <p:cNvCxnSpPr>
            <a:cxnSpLocks/>
          </p:cNvCxnSpPr>
          <p:nvPr/>
        </p:nvCxnSpPr>
        <p:spPr>
          <a:xfrm>
            <a:off x="8738836" y="4132110"/>
            <a:ext cx="3384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DCD543E-70CB-488A-A602-5C9A36F48CBF}"/>
              </a:ext>
            </a:extLst>
          </p:cNvPr>
          <p:cNvSpPr txBox="1"/>
          <p:nvPr/>
        </p:nvSpPr>
        <p:spPr>
          <a:xfrm>
            <a:off x="8795986" y="889526"/>
            <a:ext cx="3137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//</a:t>
            </a:r>
            <a:r>
              <a:rPr lang="ko-KR" altLang="en-US" sz="900" dirty="0">
                <a:highlight>
                  <a:srgbClr val="FFFF00"/>
                </a:highlight>
              </a:rPr>
              <a:t>후보 탐색 지수가 높은 순으로 정렬</a:t>
            </a:r>
            <a:r>
              <a:rPr lang="en-US" altLang="ko-KR" sz="900" dirty="0">
                <a:highlight>
                  <a:srgbClr val="FFFF00"/>
                </a:highlight>
              </a:rPr>
              <a:t>-&gt; </a:t>
            </a:r>
            <a:r>
              <a:rPr lang="ko-KR" altLang="en-US" sz="900" dirty="0">
                <a:highlight>
                  <a:srgbClr val="FFFF00"/>
                </a:highlight>
              </a:rPr>
              <a:t>상위 </a:t>
            </a:r>
            <a:r>
              <a:rPr lang="en-US" altLang="ko-KR" sz="900" dirty="0">
                <a:highlight>
                  <a:srgbClr val="FFFF00"/>
                </a:highlight>
              </a:rPr>
              <a:t>10</a:t>
            </a:r>
            <a:r>
              <a:rPr lang="ko-KR" altLang="en-US" sz="900" dirty="0">
                <a:highlight>
                  <a:srgbClr val="FFFF00"/>
                </a:highlight>
              </a:rPr>
              <a:t>개 후보 제시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AA7388D-C74A-4A2A-BC08-35A18456EE91}"/>
              </a:ext>
            </a:extLst>
          </p:cNvPr>
          <p:cNvSpPr/>
          <p:nvPr/>
        </p:nvSpPr>
        <p:spPr>
          <a:xfrm>
            <a:off x="9246599" y="1335874"/>
            <a:ext cx="1097551" cy="2308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D9B1D39-5081-4820-9822-BA0333F06B0F}"/>
              </a:ext>
            </a:extLst>
          </p:cNvPr>
          <p:cNvSpPr/>
          <p:nvPr/>
        </p:nvSpPr>
        <p:spPr>
          <a:xfrm>
            <a:off x="9363764" y="2959730"/>
            <a:ext cx="647011" cy="2308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1B86296-75C8-474F-85FB-EEE6FA9E7471}"/>
              </a:ext>
            </a:extLst>
          </p:cNvPr>
          <p:cNvSpPr/>
          <p:nvPr/>
        </p:nvSpPr>
        <p:spPr>
          <a:xfrm>
            <a:off x="6380201" y="1366996"/>
            <a:ext cx="953853" cy="285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2890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37744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52FF"/>
                </a:solidFill>
                <a:latin typeface="Aptos"/>
              </a:rPr>
              <a:t>05 ·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94360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B26"/>
                </a:solidFill>
                <a:latin typeface="Aptos"/>
              </a:rPr>
              <a:t>데이터 분석을 실제 서비스 구조로 연결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240280"/>
            <a:ext cx="1645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633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063240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0667C"/>
                </a:solidFill>
                <a:latin typeface="Aptos"/>
              </a:rPr>
              <a:t>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232" y="2697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C52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2240280"/>
            <a:ext cx="1645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95144" y="2633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3063240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0667C"/>
                </a:solidFill>
                <a:latin typeface="Aptos"/>
              </a:rP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6" y="2697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C52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2240280"/>
            <a:ext cx="1645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2633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063240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0667C"/>
                </a:solidFill>
                <a:latin typeface="Aptos"/>
              </a:rPr>
              <a:t>JSON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697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C52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240280"/>
            <a:ext cx="1645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633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063240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0667C"/>
                </a:solidFill>
                <a:latin typeface="Aptos"/>
              </a:rPr>
              <a:t>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2697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C52F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2240280"/>
            <a:ext cx="1645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0456" y="2633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Recharts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063240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0667C"/>
                </a:solidFill>
                <a:latin typeface="Aptos"/>
              </a:rPr>
              <a:t>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97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C52F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240280"/>
            <a:ext cx="1645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95560" y="2633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063240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0667C"/>
                </a:solidFill>
                <a:latin typeface="Aptos"/>
              </a:rPr>
              <a:t>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1B26"/>
                </a:solidFill>
                <a:latin typeface="Aptos"/>
              </a:rPr>
              <a:t>원본 데이터 확보부터 분석·API·시각화·AI 활용까지 하나의 흐름으로 직접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900" b="1" dirty="0">
                <a:solidFill>
                  <a:srgbClr val="5C52FF"/>
                </a:solidFill>
                <a:latin typeface="Aptos"/>
              </a:rPr>
              <a:t>05 ·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017520" cy="1645920"/>
          </a:xfrm>
          <a:prstGeom prst="roundRect">
            <a:avLst/>
          </a:prstGeom>
          <a:solidFill>
            <a:srgbClr val="262844"/>
          </a:solidFill>
          <a:ln>
            <a:solidFill>
              <a:srgbClr val="26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43000" y="2788920"/>
            <a:ext cx="685800" cy="274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4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825496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52FF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방송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0632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691B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468880"/>
            <a:ext cx="3017520" cy="1645920"/>
          </a:xfrm>
          <a:prstGeom prst="roundRect">
            <a:avLst/>
          </a:prstGeom>
          <a:solidFill>
            <a:srgbClr val="262844"/>
          </a:solidFill>
          <a:ln>
            <a:solidFill>
              <a:srgbClr val="26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46320" y="2788920"/>
            <a:ext cx="685800" cy="274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4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2825496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52FF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OTT 시청·반응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0632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691B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468880"/>
            <a:ext cx="3017520" cy="1645920"/>
          </a:xfrm>
          <a:prstGeom prst="roundRect">
            <a:avLst/>
          </a:prstGeom>
          <a:solidFill>
            <a:srgbClr val="262844"/>
          </a:solidFill>
          <a:ln>
            <a:solidFill>
              <a:srgbClr val="26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49640" y="2788920"/>
            <a:ext cx="685800" cy="274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4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825496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52FF"/>
                </a:solidFill>
                <a:latin typeface="Aptos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플랫폼 통합 콘텐츠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937760"/>
            <a:ext cx="96012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 err="1">
                <a:latin typeface="Aptos"/>
              </a:rPr>
              <a:t>향후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플랫폼별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시청·반응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데이터를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결합해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콘텐츠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성과를</a:t>
            </a:r>
            <a:r>
              <a:rPr sz="1050" b="1" dirty="0">
                <a:latin typeface="Aptos"/>
              </a:rPr>
              <a:t> 더 </a:t>
            </a:r>
            <a:r>
              <a:rPr sz="1050" b="1" dirty="0" err="1">
                <a:latin typeface="Aptos"/>
              </a:rPr>
              <a:t>넓은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관점에서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비교하는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방향으로</a:t>
            </a:r>
            <a:r>
              <a:rPr sz="1050" b="1" dirty="0">
                <a:latin typeface="Aptos"/>
              </a:rPr>
              <a:t> </a:t>
            </a:r>
            <a:r>
              <a:rPr sz="1050" b="1" dirty="0" err="1">
                <a:latin typeface="Aptos"/>
              </a:rPr>
              <a:t>확장</a:t>
            </a:r>
            <a:endParaRPr sz="1050" b="1" dirty="0"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320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878B9D"/>
                </a:solidFill>
                <a:latin typeface="Aptos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307592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방송을 넘어 </a:t>
            </a:r>
            <a:r>
              <a:rPr lang="en-US" altLang="ko-KR" sz="2500" b="1" dirty="0">
                <a:solidFill>
                  <a:srgbClr val="191B26"/>
                </a:solidFill>
                <a:latin typeface="Aptos"/>
              </a:rPr>
              <a:t>OTT</a:t>
            </a:r>
            <a:r>
              <a:rPr lang="ko-KR" altLang="en-US" sz="2500" b="1" dirty="0">
                <a:solidFill>
                  <a:srgbClr val="191B26"/>
                </a:solidFill>
                <a:latin typeface="Aptos"/>
              </a:rPr>
              <a:t>까지</a:t>
            </a:r>
            <a:endParaRPr sz="2500" b="1" dirty="0">
              <a:solidFill>
                <a:srgbClr val="191B2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96012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E95FF"/>
                </a:solidFill>
                <a:latin typeface="Aptos"/>
              </a:rPr>
              <a:t>CONTENT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36192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콘텐츠의 가치는
하나의 숫자로 설명되지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470916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95FF"/>
                </a:solidFill>
                <a:latin typeface="Aptos"/>
              </a:rPr>
              <a:t>DATA ANALYSIS  →  CONTENT PLANNING  → 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455664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87A91"/>
                </a:solidFill>
                <a:latin typeface="Aptos"/>
              </a:rPr>
              <a:t>21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47397" y="5171932"/>
            <a:ext cx="410721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Excel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Python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pandas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FastAPI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React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Recharts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　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AI API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1731</Words>
  <Application>Microsoft Office PowerPoint</Application>
  <PresentationFormat>와이드스크린</PresentationFormat>
  <Paragraphs>346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Aptos</vt:lpstr>
      <vt:lpstr>Arial Unicode MS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MS</dc:creator>
  <cp:keywords/>
  <dc:description>generated using python-pptx</dc:description>
  <cp:lastModifiedBy>504-15</cp:lastModifiedBy>
  <cp:revision>112</cp:revision>
  <cp:lastPrinted>2026-09-27T16:30:53Z</cp:lastPrinted>
  <dcterms:created xsi:type="dcterms:W3CDTF">2013-01-27T09:14:16Z</dcterms:created>
  <dcterms:modified xsi:type="dcterms:W3CDTF">2026-09-28T01:01:34Z</dcterms:modified>
  <cp:category/>
</cp:coreProperties>
</file>